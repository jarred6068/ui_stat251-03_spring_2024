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257" r:id="rId3"/>
    <p:sldId id="345" r:id="rId4"/>
    <p:sldId id="369" r:id="rId5"/>
    <p:sldId id="355" r:id="rId6"/>
    <p:sldId id="364" r:id="rId7"/>
    <p:sldId id="384" r:id="rId8"/>
    <p:sldId id="366" r:id="rId9"/>
    <p:sldId id="367" r:id="rId10"/>
    <p:sldId id="368" r:id="rId11"/>
    <p:sldId id="385" r:id="rId12"/>
    <p:sldId id="365" r:id="rId13"/>
    <p:sldId id="370" r:id="rId14"/>
    <p:sldId id="3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14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Statistical Significance and an Introduction to Probability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7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   </a:t>
            </a:r>
            <a:r>
              <a:rPr lang="en-US" b="1"/>
              <a:t>What is a sampling distribution?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distribution of a statistic over all possible samples of the same size n.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   </a:t>
            </a:r>
            <a:r>
              <a:rPr lang="en-US" b="1"/>
              <a:t>What is the standard error?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standard deviation of a sampling distribution; for x̄ it is SE = σ / √n.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   </a:t>
            </a:r>
            <a:r>
              <a:rPr lang="en-US" b="1"/>
              <a:t>What is the margin of error?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How far an estimate is expected to fall from the parameter: 2 × SE.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Question 4"/>
          <p:cNvSpPr/>
          <p:nvPr/>
        </p:nvSpPr>
        <p:spPr>
          <a:xfrm>
            <a:off x="838200" y="500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4   </a:t>
            </a:r>
            <a:r>
              <a:rPr lang="en-US" b="1"/>
              <a:t>What is a linear transformation?</a:t>
            </a:r>
            <a:endParaRPr lang="en-US" b="1" dirty="0"/>
          </a:p>
        </p:txBody>
      </p:sp>
      <p:sp>
        <p:nvSpPr>
          <p:cNvPr id="10" name="Answer 4"/>
          <p:cNvSpPr txBox="1"/>
          <p:nvPr/>
        </p:nvSpPr>
        <p:spPr>
          <a:xfrm>
            <a:off x="1066800" y="558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y = ax + b: it rescales and shifts the center and spread, but never changes the shape.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3018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you should know: the normal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two parameters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 ~ N(μ, σ):  μ locates the center, σ sets the spread.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empirical rule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68%, 95% and 99.7% within 1, 2 and 3 standard deviations (bell-shaped only).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z-score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z = (x − x̄) / s counts standard deviations from the mean;  |z| ≥ 2 flags an outlier.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9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student heights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survey of 379 college students recorded each student's height and gender.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3114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the height of a student, in inches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0991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n = 379 students   (the file lists the women first, then the men, each sorted by height)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807307"/>
              </p:ext>
            </p:extLst>
          </p:nvPr>
        </p:nvGraphicFramePr>
        <p:xfrm>
          <a:off x="762000" y="2838510"/>
          <a:ext cx="3810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GENDER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49720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009998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540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Statistical significance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Someone hands you 20 students and says they are a random sample of all 379.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it-IT" sz="2000" b="1">
                <a:solidFill>
                  <a:srgbClr val="000000"/>
                </a:solidFill>
                <a:latin typeface="Calibri" panose="020F0502020204030204" pitchFamily="34" charset="0"/>
              </a:rPr>
              <a:t>x̄ = 70.33 in        μ = 67.1 in        SE = 0.92 in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Is this result statistically significant?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233242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z = (70.33 − 67.1) / 0.92 ≈ 3.5:  far outside the margin of error, so yes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Statistically significant: this was not a random sample of all students (they were all men)</a:t>
            </a:r>
          </a:p>
        </p:txBody>
      </p:sp>
    </p:spTree>
    <p:extLst>
      <p:ext uri="{BB962C8B-B14F-4D97-AF65-F5344CB8AC3E}">
        <p14:creationId xmlns:p14="http://schemas.microsoft.com/office/powerpoint/2010/main" val="90196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Why probability?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Wednesday:  about 95% of samples land within 2 SE of μ.</a:t>
            </a:r>
          </a:p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Today:  a sample that far out would be very unlikely to happen by chance.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602379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We only ever take one sample. So what do "95%" and "unlikely" actually mean?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124111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They describe what would happen if we repeated the random sampling many, many times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Statements about the long run of a chance process are statements of probability</a:t>
            </a:r>
            <a:endParaRPr lang="en-US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19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Quantifying uncertainty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we use chance on purpose - random sampling, random assignment - to avoid bias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price: uncertainty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by chance, the statistics from a sample are not exactly the parameters of the population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payoff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chance-based results follow the laws of probability, so we can measure how far off we may be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8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language of probability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random trial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process or experiment with well-defined possible outcomes; it is random because more than one outcome is possible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159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sample space  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614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collection of all possible outcomes: for one roll of a die, S = {1, 2, 3, 4, 5, 6}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5523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event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8978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any possible outcome of a random trial, written with a capital letter:  A = roll an even number = {2, 4, 6}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5A3025-239C-C405-C103-DC03765EFF6B}"/>
              </a:ext>
            </a:extLst>
          </p:cNvPr>
          <p:cNvSpPr txBox="1"/>
          <p:nvPr/>
        </p:nvSpPr>
        <p:spPr>
          <a:xfrm>
            <a:off x="762000" y="43887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probability   P(A)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21A929-086F-D11F-1450-CA0E6D1E736A}"/>
              </a:ext>
            </a:extLst>
          </p:cNvPr>
          <p:cNvSpPr txBox="1"/>
          <p:nvPr/>
        </p:nvSpPr>
        <p:spPr>
          <a:xfrm>
            <a:off x="1117600" y="4734222"/>
            <a:ext cx="10312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number between 0 and 1 that measures how likely event A is: the proportion of times A occurs in a very long series of repetitions</a:t>
            </a:r>
          </a:p>
        </p:txBody>
      </p:sp>
    </p:spTree>
    <p:extLst>
      <p:ext uri="{BB962C8B-B14F-4D97-AF65-F5344CB8AC3E}">
        <p14:creationId xmlns:p14="http://schemas.microsoft.com/office/powerpoint/2010/main" val="1868401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Equally likely outcomes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Roll a fair six-sided die: all six outcomes are equally likely.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P(A)  =  (number of ways A can happen) / (total number of outcomes)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P(even)?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P(not a six)?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(a)  3 / 6 = 0.5</a:t>
            </a:r>
          </a:p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(b)  5 / 6 ≈ 0.83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20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probabilities from real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Pick one of the 379 students from the heights data at random.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383032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P(the student is at least 70 in)?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P(the student is female)?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62929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(a)  106 / 379 ≈ 0.28</a:t>
            </a:r>
          </a:p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(b)  262 / 379 ≈ 0.69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5" name="Counts">
            <a:extLst>
              <a:ext uri="{FF2B5EF4-FFF2-40B4-BE49-F238E27FC236}">
                <a16:creationId xmlns:a16="http://schemas.microsoft.com/office/drawing/2014/main" id="{07CBF5BB-B19C-04AA-D608-94962C8F3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374605"/>
              </p:ext>
            </p:extLst>
          </p:nvPr>
        </p:nvGraphicFramePr>
        <p:xfrm>
          <a:off x="762000" y="2362200"/>
          <a:ext cx="6604000" cy="1341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9026703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866161889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93837924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669086323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endParaRPr lang="en-US" sz="1600" b="1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At least 70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Under 70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34691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17323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95339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138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39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Where do probabilities come from?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Flip a fair coin once. Intuition says P(heads) = 1/2.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99732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You flip it 4 times and get 3 heads: 75%. Was 1/2 wrong?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103821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No:  over a few flips the proportion is unpredictable; over many it is very predictable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Probability:  the proportion of times an event occurs in a very long series of repetitions</a:t>
            </a:r>
            <a:endParaRPr lang="en-US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0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law of large numbers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3E119-33DB-B84A-C9CB-1DA41099D1A1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law of large numbers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D380C-8635-8A53-300D-33D0068157E3}"/>
              </a:ext>
            </a:extLst>
          </p:cNvPr>
          <p:cNvSpPr txBox="1"/>
          <p:nvPr/>
        </p:nvSpPr>
        <p:spPr>
          <a:xfrm>
            <a:off x="4038600" y="1841499"/>
            <a:ext cx="7391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as the number of independent trials n increases, the relative frequency of an event,  (number of times A occurs) / n,  gets closer and closer to P(A)</a:t>
            </a:r>
            <a:endParaRPr lang="en-US" sz="1600" i="1">
              <a:solidFill>
                <a:srgbClr val="595959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sult">
            <a:extLst>
              <a:ext uri="{FF2B5EF4-FFF2-40B4-BE49-F238E27FC236}">
                <a16:creationId xmlns:a16="http://schemas.microsoft.com/office/drawing/2014/main" id="{572E4A4A-3BD5-CF24-E6F1-9A1E4EB1A29A}"/>
              </a:ext>
            </a:extLst>
          </p:cNvPr>
          <p:cNvSpPr/>
          <p:nvPr/>
        </p:nvSpPr>
        <p:spPr>
          <a:xfrm>
            <a:off x="762000" y="5181600"/>
            <a:ext cx="10668000" cy="721578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Independent trials:  the outcome of one trial does not affect the outcome of any other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Jacob Bernoulli proved it (published 1713); Karl Pearson tossed a coin 24,000 times: 12,012 heads = 0.5005</a:t>
            </a:r>
          </a:p>
        </p:txBody>
      </p:sp>
      <p:pic>
        <p:nvPicPr>
          <p:cNvPr id="9" name="l13_lln.png">
            <a:extLst>
              <a:ext uri="{FF2B5EF4-FFF2-40B4-BE49-F238E27FC236}">
                <a16:creationId xmlns:a16="http://schemas.microsoft.com/office/drawing/2014/main" id="{92608EA9-B24C-54D9-F2CD-F434CFD5D7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540000"/>
            <a:ext cx="10668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4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rules of probability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Rule 1:   0 ≤ P(A) ≤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probability of an event must be a value between 0 and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6905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Rule 2:   </a:t>
            </a:r>
            <a:r>
              <a:rPr lang="el-GR" sz="1600">
                <a:solidFill>
                  <a:srgbClr val="000000"/>
                </a:solidFill>
              </a:rPr>
              <a:t>Σ </a:t>
            </a:r>
            <a:r>
              <a:rPr lang="en-US" sz="1600">
                <a:solidFill>
                  <a:srgbClr val="000000"/>
                </a:solidFill>
              </a:rPr>
              <a:t>P(A</a:t>
            </a:r>
            <a:r>
              <a:rPr lang="en-US" sz="1600" baseline="-25000">
                <a:solidFill>
                  <a:srgbClr val="000000"/>
                </a:solidFill>
              </a:rPr>
              <a:t>i</a:t>
            </a:r>
            <a:r>
              <a:rPr lang="en-US" sz="1600">
                <a:solidFill>
                  <a:srgbClr val="000000"/>
                </a:solidFill>
              </a:rPr>
              <a:t>)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360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probabilities of all the outcomes in the sample space must add to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5015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Rule 3:   P(A ∪ B) = P(A) + P(B)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8470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addition rule for DISJOINT events: A and B have no outcomes in common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3125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Rule 4:   P(A′) = 1 − P(A)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6580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complement rule: A′ ("A-not") is every outcome in S that is not in A</a:t>
            </a:r>
          </a:p>
        </p:txBody>
      </p:sp>
    </p:spTree>
    <p:extLst>
      <p:ext uri="{BB962C8B-B14F-4D97-AF65-F5344CB8AC3E}">
        <p14:creationId xmlns:p14="http://schemas.microsoft.com/office/powerpoint/2010/main" val="115257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Combining two events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558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union   A ∪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523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outcomes in A or in B (or both); key word "or"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558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intersection   A ∩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523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outcomes A and B have in common; key word "and"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558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disjoint (mutually exclusive)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523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and B have no outcomes in common:  A ∩ B = ∅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l14_venn.png">
            <a:extLst>
              <a:ext uri="{FF2B5EF4-FFF2-40B4-BE49-F238E27FC236}">
                <a16:creationId xmlns:a16="http://schemas.microsoft.com/office/drawing/2014/main" id="{1E0A93D8-4C96-C16F-6856-8F0AAE8656B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1879600"/>
            <a:ext cx="48260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4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3946</TotalTime>
  <Words>1080</Words>
  <Application>Microsoft Office PowerPoint</Application>
  <PresentationFormat>Widescreen</PresentationFormat>
  <Paragraphs>130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Lecture 14 Statistical Significance and an Introduction to Probability</vt:lpstr>
      <vt:lpstr>Review</vt:lpstr>
      <vt:lpstr>What you should know: the normal distribution</vt:lpstr>
      <vt:lpstr>Data: student heights</vt:lpstr>
      <vt:lpstr>Statistical significance</vt:lpstr>
      <vt:lpstr>Why probability?</vt:lpstr>
      <vt:lpstr>Quantifying uncertainty</vt:lpstr>
      <vt:lpstr>The language of probability</vt:lpstr>
      <vt:lpstr>Equally likely outcomes</vt:lpstr>
      <vt:lpstr>Example: probabilities from real data</vt:lpstr>
      <vt:lpstr>Where do probabilities come from?</vt:lpstr>
      <vt:lpstr>The law of large numbers</vt:lpstr>
      <vt:lpstr>The rules of probability</vt:lpstr>
      <vt:lpstr>Combining two events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410</cp:revision>
  <dcterms:created xsi:type="dcterms:W3CDTF">2023-08-05T23:57:41Z</dcterms:created>
  <dcterms:modified xsi:type="dcterms:W3CDTF">2026-10-05T18:23:52Z</dcterms:modified>
</cp:coreProperties>
</file>