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436" r:id="rId3"/>
    <p:sldId id="437" r:id="rId4"/>
    <p:sldId id="438" r:id="rId5"/>
    <p:sldId id="439" r:id="rId6"/>
    <p:sldId id="440" r:id="rId7"/>
    <p:sldId id="441" r:id="rId8"/>
    <p:sldId id="442" r:id="rId9"/>
    <p:sldId id="443" r:id="rId10"/>
    <p:sldId id="444" r:id="rId11"/>
    <p:sldId id="445" r:id="rId12"/>
    <p:sldId id="446" r:id="rId13"/>
    <p:sldId id="447" r:id="rId14"/>
    <p:sldId id="448" r:id="rId15"/>
    <p:sldId id="449" r:id="rId16"/>
    <p:sldId id="450" r:id="rId17"/>
    <p:sldId id="451" r:id="rId18"/>
    <p:sldId id="452" r:id="rId19"/>
    <p:sldId id="453" r:id="rId20"/>
    <p:sldId id="454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20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Confidence Levels and t Intervals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479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   In “we are 95% confident”, what is the 95% about?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method:  about 95% of intervals built this way capture the parameter.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   What is the 95% interval for p, and when does it work?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p̂ ± 2√(p̂(1 − p̂) / n),  when np̂ &gt; 5 and n(1 − p̂) &gt; 5.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   Where does the 2 in “± 2 SE” come from?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95% of a normal curve lies within 1.96 SD of the mean;  2 is 1.96 rounded.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4158075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Why 95%?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Every interval on Monday was estimate ± 2 SE, which captures the parameter about 95% of the time.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A cardiologist wants to be 99% sure instead.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Should the interval get wider or narrower?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in “estimate ± 2 SE” has to change?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Wider:  more confidence needs a bigger net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The 2 becomes a bigger number, the critical value</a:t>
            </a:r>
          </a:p>
        </p:txBody>
      </p:sp>
    </p:spTree>
    <p:extLst>
      <p:ext uri="{BB962C8B-B14F-4D97-AF65-F5344CB8AC3E}">
        <p14:creationId xmlns:p14="http://schemas.microsoft.com/office/powerpoint/2010/main" val="2267001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Confidence levels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confidence level 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share of all possible samples whose interval captures the parameter:  90%, 95%, 99%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l-GR" sz="1600">
                <a:solidFill>
                  <a:srgbClr val="000000"/>
                </a:solidFill>
              </a:rPr>
              <a:t>α</a:t>
            </a: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share that miss:  α = 1 − C,  split as α/2 in each tail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critical value z</a:t>
            </a:r>
            <a:r>
              <a:rPr lang="en-US" sz="1600" baseline="-25000">
                <a:solidFill>
                  <a:srgbClr val="000000"/>
                </a:solidFill>
              </a:rPr>
              <a:t>1−α/2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z with area 1 − α/2 to its left;  the interval is estimate ± z × SE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655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Where z comes from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middle C of the standard normal curve is shaded;  α/2 is left in each tail.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For a 90% interval, what area to the LEFT of z do we look up in the z-table?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423932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pl-PL" sz="2000" b="1">
                <a:solidFill>
                  <a:srgbClr val="C00000"/>
                </a:solidFill>
                <a:latin typeface="Calibri" panose="020F0502020204030204" pitchFamily="34" charset="0"/>
              </a:rPr>
              <a:t>90%:  1 − 0.05 = 0.95 → z = 1.645       95%:  0.975 → 1.960       99%:  0.995 → 2.576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  <p:pic>
        <p:nvPicPr>
          <p:cNvPr id="7" name="l20_crit_values.png">
            <a:extLst>
              <a:ext uri="{FF2B5EF4-FFF2-40B4-BE49-F238E27FC236}">
                <a16:creationId xmlns:a16="http://schemas.microsoft.com/office/drawing/2014/main" id="{47B046B2-4D06-D1BA-3A71-AC874840739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06132"/>
            <a:ext cx="106680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798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critical values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Find the area 1 − α/2 inside the z-table, then read off z.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C = 80%;     C = 90%;     C = 99%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α/2 for each?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area to the left do we look up?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is the critical value?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80%:  α/2 = 0.10,   area 0.90   →  z = 1.28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90%:  α/2 = 0.05,   area 0.95   →  z = 1.645  (halfway between 1.64 and 1.65)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99%:  α/2 = 0.005,  area 0.995  →  z = 2.576  (between 2.57 and 2.58)</a:t>
            </a:r>
          </a:p>
        </p:txBody>
      </p:sp>
    </p:spTree>
    <p:extLst>
      <p:ext uri="{BB962C8B-B14F-4D97-AF65-F5344CB8AC3E}">
        <p14:creationId xmlns:p14="http://schemas.microsoft.com/office/powerpoint/2010/main" val="641704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a gene and a drug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Clopidogrel (Plavix), a blood thinner used after heart attacks and stents, is switched on by the liver enzyme CYP2C19.  People with the CYP2C19*2 variant switch on less of it.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1 if a person carries at least one copy of *2, and 0 otherwise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288241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n = 504 East Asian participants of the 1000 Genomes Project, which sequenced 2,504 people worldwide to catalog human genetic variation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81044"/>
              </p:ext>
            </p:extLst>
          </p:nvPr>
        </p:nvGraphicFramePr>
        <p:xfrm>
          <a:off x="762000" y="3053041"/>
          <a:ext cx="9017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392351544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68607093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565048366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PERSON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POPULATION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GENOTYPE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COPIES OF *2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X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HG00403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Southern Han Chinese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G/G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HG00404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Southern Han Chinese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A/A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HG00406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Southern Han Chinese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G/A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HG00407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Southern Han Chinese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G/G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HG00409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Southern Han Chinese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G/G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9940422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9925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carriers of CYP2C19*2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</a:rPr>
              <a:t>Estimate p, the proportion of all individuals of East </a:t>
            </a: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Asian descent 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</a:rPr>
              <a:t>who carry the *2 variant.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277 of n = 504 people are carriers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p̂? Is the check met? What is the standard error?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are the 90%, 95% and 99% confidence intervals for p?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Can we say more than half of people carry *2?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2039243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p̂ = 277 / 504 ≈ 0.550;    277 and 227 are both &gt; 5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      SE = √(0.550 × 0.450 / 504) ≈ 0.022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90%:  0.550 ± 1.645(0.022):  0.514 to 0.586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      95%:  0.550 ± 1.960(0.022):  0.507 to 0.593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      99%:  0.550 ± 2.576(0.022):  0.493 to 0.607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At 90% and 95%, yes;  the 99% interval includes 0.5</a:t>
            </a:r>
          </a:p>
        </p:txBody>
      </p:sp>
    </p:spTree>
    <p:extLst>
      <p:ext uri="{BB962C8B-B14F-4D97-AF65-F5344CB8AC3E}">
        <p14:creationId xmlns:p14="http://schemas.microsoft.com/office/powerpoint/2010/main" val="184409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Making an interval narrower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carrier interval (p̂ = 0.550) at four confidence levels, and at 95% with 4 times fewer or more people.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happens to the width as C goes up?  As n goes up?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487432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Higher C → wider.     4 times the n → half the width  (SE has √n on the bottom)</a:t>
            </a:r>
          </a:p>
        </p:txBody>
      </p:sp>
      <p:pic>
        <p:nvPicPr>
          <p:cNvPr id="7" name="l20_width.png">
            <a:extLst>
              <a:ext uri="{FF2B5EF4-FFF2-40B4-BE49-F238E27FC236}">
                <a16:creationId xmlns:a16="http://schemas.microsoft.com/office/drawing/2014/main" id="{23451720-5E0A-3C17-1245-844CB7EF6E7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06132"/>
            <a:ext cx="1066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836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if σ is unknown?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Every interval for μ so far used σ, the population standard deviation.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± z </a:t>
            </a:r>
            <a:r>
              <a:rPr lang="el-GR" sz="2000" b="1">
                <a:solidFill>
                  <a:srgbClr val="000000"/>
                </a:solidFill>
                <a:latin typeface="Calibri" panose="020F0502020204030204" pitchFamily="34" charset="0"/>
              </a:rPr>
              <a:t>σ / √</a:t>
            </a: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n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If we don’t know μ, do we know σ?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could we use in its place?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Almost never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s, the sample standard deviation:   x̄ ± z s / √n.   Does that still work?</a:t>
            </a:r>
          </a:p>
        </p:txBody>
      </p:sp>
    </p:spTree>
    <p:extLst>
      <p:ext uri="{BB962C8B-B14F-4D97-AF65-F5344CB8AC3E}">
        <p14:creationId xmlns:p14="http://schemas.microsoft.com/office/powerpoint/2010/main" val="2692125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Does s in place of σ work?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Simulated:  100 samples of n = 5 whiskers from N(91, 8) mm;  each line is x̄ ± 1.96 s / √5.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A 95% method should miss about 5 times.  How many of these 100 miss μ?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487432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12 of 100:  s changes from sample to sample, so the intervals are too narrow too often</a:t>
            </a:r>
          </a:p>
        </p:txBody>
      </p:sp>
      <p:pic>
        <p:nvPicPr>
          <p:cNvPr id="7" name="l20_s_coverage.png">
            <a:extLst>
              <a:ext uri="{FF2B5EF4-FFF2-40B4-BE49-F238E27FC236}">
                <a16:creationId xmlns:a16="http://schemas.microsoft.com/office/drawing/2014/main" id="{56E80C62-37D9-646C-E45C-217B469A121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2706132"/>
            <a:ext cx="9652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92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t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 distribution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bell curve like N(0, 1) but with heavier tails;  use it when s replaces σ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degrees of freedom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df = n − 1;  the more df, the closer t is to N(0, 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 critical value t</a:t>
            </a:r>
            <a:r>
              <a:rPr lang="en-US" sz="1600" baseline="-25000">
                <a:solidFill>
                  <a:srgbClr val="000000"/>
                </a:solidFill>
              </a:rPr>
              <a:t>n−1, 1−</a:t>
            </a:r>
            <a:r>
              <a:rPr lang="el-GR" sz="1600" baseline="-25000">
                <a:solidFill>
                  <a:srgbClr val="000000"/>
                </a:solidFill>
              </a:rPr>
              <a:t>α/2</a:t>
            </a:r>
            <a:endParaRPr lang="en-US" sz="1600" baseline="-25000">
              <a:solidFill>
                <a:srgbClr val="0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from the t-table row for df = n − 1;  larger than z, so the interval is wider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342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 versus the standard normal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Density curves of t with 2, 5 and 30 degrees of freedom, and the standard normal N(0, 1).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Which curve has the heaviest tails?  What happens as df grows?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487432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df = 2.   As df grows, t approaches N(0, 1);  by df = 30 they nearly match</a:t>
            </a:r>
          </a:p>
        </p:txBody>
      </p:sp>
      <p:pic>
        <p:nvPicPr>
          <p:cNvPr id="7" name="l20_t_vs_z.png">
            <a:extLst>
              <a:ext uri="{FF2B5EF4-FFF2-40B4-BE49-F238E27FC236}">
                <a16:creationId xmlns:a16="http://schemas.microsoft.com/office/drawing/2014/main" id="{7B66403A-08B4-5A35-6900-CD060D949E0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0" y="2706132"/>
            <a:ext cx="812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617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reading the t-table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In the course t-table, the row is df = n − 1 and the column is the confidence level.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95%, n = 10;     90%, n = 25;     99%, n = 10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the t critical value for each?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How does each compare with z for the same confidence level?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df = 9:  2.262          df = 24:  1.711          df = 9:  3.250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z = 1.960,  1.645,  2.576:   t is always larger</a:t>
            </a:r>
          </a:p>
        </p:txBody>
      </p:sp>
    </p:spTree>
    <p:extLst>
      <p:ext uri="{BB962C8B-B14F-4D97-AF65-F5344CB8AC3E}">
        <p14:creationId xmlns:p14="http://schemas.microsoft.com/office/powerpoint/2010/main" val="2363623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Which interval?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 proportion 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p̂ ± z √(p̂(1 − p̂) / n),   when np̂ &gt; 5 and n(1 − p̂) &gt;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 mean μ, σ known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x̄ ± z </a:t>
            </a:r>
            <a:r>
              <a:rPr lang="el-GR" sz="1600" b="1">
                <a:solidFill>
                  <a:srgbClr val="C00000"/>
                </a:solidFill>
              </a:rPr>
              <a:t>σ / √</a:t>
            </a:r>
            <a:r>
              <a:rPr lang="en-US" sz="1600" b="1">
                <a:solidFill>
                  <a:srgbClr val="C00000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 mean μ, σ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x̄ ± t s / √n,   with df = n − 1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when the t interval works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population is roughly normal, or n ≥ 30</a:t>
            </a:r>
          </a:p>
        </p:txBody>
      </p:sp>
    </p:spTree>
    <p:extLst>
      <p:ext uri="{BB962C8B-B14F-4D97-AF65-F5344CB8AC3E}">
        <p14:creationId xmlns:p14="http://schemas.microsoft.com/office/powerpoint/2010/main" val="3339251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seal whiskers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Ginter et al. (2012) measured the longest undamaged whisker of 92 seals and sea lions from 11 species, to study how whisker shape evolved.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the total length of a seal’s longest whisker, in mm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288241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One whisker per seal;  only each species’ n, mean and SD were published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637757"/>
              </p:ext>
            </p:extLst>
          </p:nvPr>
        </p:nvGraphicFramePr>
        <p:xfrm>
          <a:off x="762000" y="3053041"/>
          <a:ext cx="3810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1739093344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23529928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SPECIES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SEALS (n)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MEAN LENGTH (mm)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SD (mm)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Harp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80.6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10.8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Harbor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86.5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10.5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Ringed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79.6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10.9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Spotted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91.2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7.9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Gray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73.8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12.5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381287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42641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spotted seal whiskers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Estimate μ, the mean whisker length of all spotted seals, from the 9 that were measured.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n = 9;     x̄ = 91.2 mm;     s = 7.9 mm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z or t?  How many degrees of freedom?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the standard error?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is the 95% confidence interval for μ?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t, because σ is unknown;   df = 9 − 1 = 8,   t = 2.306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7.9 / √9 ≈ 2.63 mm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91.2 ± 2.306(2.63) = 91.2 ± 6.06:   85.1 to 97.3 mm</a:t>
            </a:r>
          </a:p>
        </p:txBody>
      </p:sp>
    </p:spTree>
    <p:extLst>
      <p:ext uri="{BB962C8B-B14F-4D97-AF65-F5344CB8AC3E}">
        <p14:creationId xmlns:p14="http://schemas.microsoft.com/office/powerpoint/2010/main" val="2280179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watermelon citrulline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Korea’s national gene bank keeps seed of 100 watermelon varieties from around the world.  Assefa et al. (2020) measured citrulline, the amino acid named after watermelon (Citrullus).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citrulline in a variety’s fruit flesh, in mg per g of dry weight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288241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random sample of n = 12 of the 100 gene-bank varieties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487696"/>
              </p:ext>
            </p:extLst>
          </p:nvPr>
        </p:nvGraphicFramePr>
        <p:xfrm>
          <a:off x="762000" y="3053041"/>
          <a:ext cx="3810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197166615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VARIETY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ORIGIN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CITRULLINE (mg/g)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IT120008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Taiwan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27.16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IT199814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Kazakhstan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25.83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IT203017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Russia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26.38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IT203029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Kazakhstan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24.01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IT203627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unknown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32.79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16288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27078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citrulline, 90% and 99%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Estimate μ, the mean citrulline of all 100 gene-bank varieties, from the sample of 12.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n = 12;     x̄ = 27.07 mg/g;     s = 5.27 mg/g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are the degrees of freedom and the standard error?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are the 90% and 99% confidence intervals for μ?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Which is wider, and why?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41178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df = 11;    SE = 5.27 / √12 ≈ 1.52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90%:  27.07 ± 1.796(1.52):  24.34 to 29.80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      99%:  27.07 ± 3.106(1.52):  22.35 to 31.79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The 99% interval:  more confidence needs a larger t</a:t>
            </a:r>
          </a:p>
        </p:txBody>
      </p:sp>
    </p:spTree>
    <p:extLst>
      <p:ext uri="{BB962C8B-B14F-4D97-AF65-F5344CB8AC3E}">
        <p14:creationId xmlns:p14="http://schemas.microsoft.com/office/powerpoint/2010/main" val="369073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confidence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 = 1 − α;  α/2 is left in each tail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critical value z</a:t>
            </a:r>
            <a:r>
              <a:rPr lang="en-US" sz="1600" baseline="-25000">
                <a:solidFill>
                  <a:srgbClr val="000000"/>
                </a:solidFill>
              </a:rPr>
              <a:t>1−α/2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area 1 − α/2 to its left:  1.645, 1.960, 2.576 for 90%, 95%, 99%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l-GR" sz="1600">
                <a:solidFill>
                  <a:srgbClr val="000000"/>
                </a:solidFill>
              </a:rPr>
              <a:t>σ </a:t>
            </a:r>
            <a:r>
              <a:rPr lang="en-US" sz="1600">
                <a:solidFill>
                  <a:srgbClr val="000000"/>
                </a:solidFill>
              </a:rPr>
              <a:t>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use s and t with df = n − 1:   x̄ ± t s / √n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width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wider for higher confidence;  narrower for larger n</a:t>
            </a:r>
          </a:p>
        </p:txBody>
      </p:sp>
    </p:spTree>
    <p:extLst>
      <p:ext uri="{BB962C8B-B14F-4D97-AF65-F5344CB8AC3E}">
        <p14:creationId xmlns:p14="http://schemas.microsoft.com/office/powerpoint/2010/main" val="412465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4143</TotalTime>
  <Words>1881</Words>
  <Application>Microsoft Office PowerPoint</Application>
  <PresentationFormat>Widescreen</PresentationFormat>
  <Paragraphs>232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Office Theme</vt:lpstr>
      <vt:lpstr>Lecture 20 Confidence Levels and t Intervals</vt:lpstr>
      <vt:lpstr>Review</vt:lpstr>
      <vt:lpstr>Why 95%?</vt:lpstr>
      <vt:lpstr>Confidence levels</vt:lpstr>
      <vt:lpstr>Where z comes from</vt:lpstr>
      <vt:lpstr>Example: critical values</vt:lpstr>
      <vt:lpstr>Data: a gene and a drug</vt:lpstr>
      <vt:lpstr>Example: carriers of CYP2C19*2</vt:lpstr>
      <vt:lpstr>Making an interval narrower</vt:lpstr>
      <vt:lpstr>What if σ is unknown?</vt:lpstr>
      <vt:lpstr>Does s in place of σ work?</vt:lpstr>
      <vt:lpstr>The t distribution</vt:lpstr>
      <vt:lpstr>t versus the standard normal</vt:lpstr>
      <vt:lpstr>Example: reading the t-table</vt:lpstr>
      <vt:lpstr>Which interval?</vt:lpstr>
      <vt:lpstr>Data: seal whiskers</vt:lpstr>
      <vt:lpstr>Example: spotted seal whiskers</vt:lpstr>
      <vt:lpstr>Data: watermelon citrulline</vt:lpstr>
      <vt:lpstr>Example: citrulline, 90% and 99%</vt:lpstr>
      <vt:lpstr>What you should know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432</cp:revision>
  <dcterms:created xsi:type="dcterms:W3CDTF">2023-08-05T23:57:41Z</dcterms:created>
  <dcterms:modified xsi:type="dcterms:W3CDTF">2026-10-21T19:18:21Z</dcterms:modified>
</cp:coreProperties>
</file>