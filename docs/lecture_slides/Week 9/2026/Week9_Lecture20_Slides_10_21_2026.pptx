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0" r:id="rId2"/>
    <p:sldId id="436" r:id="rId3"/>
    <p:sldId id="437" r:id="rId4"/>
    <p:sldId id="438" r:id="rId5"/>
    <p:sldId id="439" r:id="rId6"/>
    <p:sldId id="440" r:id="rId7"/>
    <p:sldId id="441" r:id="rId8"/>
    <p:sldId id="44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6" d="100"/>
          <a:sy n="76" d="100"/>
        </p:scale>
        <p:origin x="6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821C1-92D8-0827-CE2B-80FEA840C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EA748-2C8E-5D78-5734-D9BCC16ECD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15553-DE39-3C41-4AFF-70F29A86E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2837C-8079-1B7F-0DCF-61C39ED3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5E205-162F-206E-F4C6-EB23D9DC1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874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13490-30A7-12A6-2775-77578A346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7B95F-B119-D057-5670-8EC21A84E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D001D-CEFB-FD30-FB40-0BEA5B52D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3377D-E7F3-D264-FB03-A4AF3E336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48992-A907-9503-F005-BAA8A33CE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803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6B320-EDC1-EDD2-5F4C-2A675BD0C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8A940-1637-AC6F-0247-A5E578765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2A479-CAFF-245E-F61F-3D6F3E5C8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24E38-70F9-0CAE-F19E-6DDE60057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74C88-12BC-0657-008B-8419B1E10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099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02A09-336F-FDC8-F0C1-F84E09726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F6849-08AF-456F-8C3C-E6DE37B3B9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7E5562-6B4C-F11F-DF48-D254599EA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A69C05-114E-11FE-5C76-D6F191757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71C5D0-A8D9-EEF2-15E4-CE74A390A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944C5-75A0-666E-C3DD-6839AB17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10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EC19E-080C-F794-EB45-FB4903CDD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5744A-FDBE-87AE-7AF1-3AC154DB2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970E4-B2B1-0370-3C26-0D1A5A002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A4F036-B8A8-878F-A1CB-05DAE58015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8B7F82-EBC0-322A-130D-972F39800F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21A5BB-D71E-872F-6F0E-2279BE484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C56747-8CBE-BF00-C39A-F442E724C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E2C14A-6287-B5B6-C760-7F506FD87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436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E9713-B0F2-9D1D-23FC-F5900F773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6FC7EC-16C8-C311-316C-6D99B4F99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FE4DA7-A4C5-460E-592C-CEF23DF38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6F3F89-7820-6BF8-A747-E433ED21A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44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EAD0FD-7A61-970C-10A9-76E2B39DA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F95651-C89A-3C9B-3D47-F7E5CAF6B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09228-92F1-54DE-D9B2-4AC018D50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303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3F474-02F7-A264-4B8D-717F5EB00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A8C9F-750F-7D81-0E80-7FBCDEBEB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0A1C0B-C510-B118-D8FA-12722456A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4604E-EC60-44AD-4B70-12B2B49AE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22C4B9-91B9-9E0E-9278-1C0433768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1E60F-F796-8B15-08E9-61BA30F0D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505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E564D-22A0-8A8D-C6FE-D62998433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713DEA-5246-B946-AFE4-3B305BCDB1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208CC-31DD-00AF-BFC4-37F7B4BF3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7E30D-B05F-B2CA-9A3C-E01E2B6B0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08FCE-463A-D1B2-8A60-3B6744202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38537-A621-46D4-781D-4E36BF836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242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105C2-17EC-1173-1FC9-8A7FC1018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BBB4A-325C-1F27-06A3-6F4F1A8F5C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A6F55-A1EF-6AEC-99F0-DBF50F5EB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1FD1D-86F4-EDE3-1CCE-ADED2161B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E0593-ABE9-0E50-7A75-9252A5A1F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965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87FF77-0DAD-7CA9-B02D-208C020489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9298FA-F111-2C9C-551D-A1F30B239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1B556-1ED0-55E4-9235-352E1A162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4A71E-8AC3-EA68-1DCB-99E68A465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1CF60-74F8-B2C5-26C3-77536C36C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366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18B48B-0371-7ADD-E5C3-345B4D6CB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B5A92-73C5-8CE0-7C84-BE7902E60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5212B-F67A-E417-B1FE-C389458DF2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82561-BD16-4A95-ACA1-5204E478F2F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9799A-D006-E28E-8EED-4BE2AFCB8D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69CB4-3B3A-FD13-F7E0-B4A0F34767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91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F151A-3AFE-974F-DDC4-9B99389C3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4105419"/>
          </a:xfrm>
        </p:spPr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Lecture 20</a:t>
            </a:r>
            <a:br>
              <a:rPr lang="en-US">
                <a:solidFill>
                  <a:srgbClr val="1F3864"/>
                </a:solidFill>
              </a:rPr>
            </a:br>
            <a:r>
              <a:rPr lang="en-US">
                <a:solidFill>
                  <a:srgbClr val="1F3864"/>
                </a:solidFill>
              </a:rPr>
              <a:t>Confidence Levels and Critical Values</a:t>
            </a:r>
            <a:endParaRPr lang="en-US" dirty="0">
              <a:solidFill>
                <a:srgbClr val="1F38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6479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5104"/>
          </a:xfrm>
        </p:spPr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Review</a:t>
            </a:r>
            <a:endParaRPr lang="en-US" dirty="0">
              <a:solidFill>
                <a:srgbClr val="1F3864"/>
              </a:solidFill>
            </a:endParaRPr>
          </a:p>
        </p:txBody>
      </p:sp>
      <p:sp>
        <p:nvSpPr>
          <p:cNvPr id="3" name="Question 1"/>
          <p:cNvSpPr/>
          <p:nvPr/>
        </p:nvSpPr>
        <p:spPr>
          <a:xfrm>
            <a:off x="838200" y="107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1   </a:t>
            </a:r>
            <a:r>
              <a:rPr lang="en-US" b="1"/>
              <a:t>   In “we are 95% confident”, what is the 95% about?</a:t>
            </a:r>
            <a:endParaRPr lang="en-US" b="1" dirty="0"/>
          </a:p>
        </p:txBody>
      </p:sp>
      <p:sp>
        <p:nvSpPr>
          <p:cNvPr id="4" name="Answer 1"/>
          <p:cNvSpPr txBox="1"/>
          <p:nvPr/>
        </p:nvSpPr>
        <p:spPr>
          <a:xfrm>
            <a:off x="1066800" y="1655688"/>
            <a:ext cx="10058400" cy="6502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The method:  about 95% of intervals built this way capture the parameter.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5" name="Question 2"/>
          <p:cNvSpPr/>
          <p:nvPr/>
        </p:nvSpPr>
        <p:spPr>
          <a:xfrm>
            <a:off x="838200" y="238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2   </a:t>
            </a:r>
            <a:r>
              <a:rPr lang="en-US" b="1"/>
              <a:t>   What is the 95% interval for p, and when does it work?</a:t>
            </a:r>
            <a:endParaRPr lang="en-US" b="1" dirty="0"/>
          </a:p>
        </p:txBody>
      </p:sp>
      <p:sp>
        <p:nvSpPr>
          <p:cNvPr id="6" name="Answer 2"/>
          <p:cNvSpPr txBox="1"/>
          <p:nvPr/>
        </p:nvSpPr>
        <p:spPr>
          <a:xfrm>
            <a:off x="1066800" y="2965688"/>
            <a:ext cx="10058400" cy="5892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p̂ ± 2√(p̂(1 − p̂) / n),  when np̂ &gt; 5 and n(1 − p̂) &gt; 5.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7" name="Question 3"/>
          <p:cNvSpPr/>
          <p:nvPr/>
        </p:nvSpPr>
        <p:spPr>
          <a:xfrm>
            <a:off x="838200" y="369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3   </a:t>
            </a:r>
            <a:r>
              <a:rPr lang="en-US" b="1"/>
              <a:t>   Where does the 2 in “± 2 SE” come from?</a:t>
            </a:r>
            <a:endParaRPr lang="en-US" b="1" dirty="0"/>
          </a:p>
        </p:txBody>
      </p:sp>
      <p:sp>
        <p:nvSpPr>
          <p:cNvPr id="8" name="Answer 3"/>
          <p:cNvSpPr txBox="1"/>
          <p:nvPr/>
        </p:nvSpPr>
        <p:spPr>
          <a:xfrm>
            <a:off x="1066800" y="4275688"/>
            <a:ext cx="10058400" cy="5585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95% of a normal curve lies within 1.96 SD of the mean;  2 is 1.96 rounded.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66091C9-B7EB-6BBE-A602-1479CDF97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</a:t>
            </a:fld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4158075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Why 95%?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3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Every interval on Monday was estimate ± 2 SE, which captures the parameter about 95% of the time.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A cardiologist wants to be 99% sure instead.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67197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Should the interval get wider or narrower?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What in “estimate ± 2 SE” has to change?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535889"/>
            <a:ext cx="10668000" cy="78432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Wider:  more confidence needs a bigger net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The 2 becomes a bigger number, the critical value</a:t>
            </a:r>
          </a:p>
        </p:txBody>
      </p:sp>
    </p:spTree>
    <p:extLst>
      <p:ext uri="{BB962C8B-B14F-4D97-AF65-F5344CB8AC3E}">
        <p14:creationId xmlns:p14="http://schemas.microsoft.com/office/powerpoint/2010/main" val="2267001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Confidence levels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4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confidence level 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share of all possible samples whose interval captures the parameter:  90%, 95%, 99%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413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l-GR" sz="1600">
                <a:solidFill>
                  <a:srgbClr val="000000"/>
                </a:solidFill>
              </a:rPr>
              <a:t>α</a:t>
            </a: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0868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share that miss:  α = 1 − C,  split as α/2 in each tail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031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critical value z</a:t>
            </a:r>
            <a:r>
              <a:rPr lang="en-US" sz="1600" baseline="-25000">
                <a:solidFill>
                  <a:srgbClr val="000000"/>
                </a:solidFill>
              </a:rPr>
              <a:t>1−α/2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486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z with area 1 − α/2 to its left;  the interval is estimate ± z × SE</a:t>
            </a:r>
            <a:endParaRPr lang="en-US" sz="1600" b="1" dirty="0">
              <a:solidFill>
                <a:srgbClr val="C00000"/>
              </a:solidFill>
            </a:endParaRP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655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Where z comes from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5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The middle C of the standard normal curve is shaded;  α/2 is left in each tail.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286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For a 90% interval, what area to the LEFT of z do we look up in the z-table?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5423932"/>
            <a:ext cx="10668000" cy="470595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pl-PL" sz="2000" b="1">
                <a:solidFill>
                  <a:srgbClr val="C00000"/>
                </a:solidFill>
                <a:latin typeface="Calibri" panose="020F0502020204030204" pitchFamily="34" charset="0"/>
              </a:rPr>
              <a:t>90%:  1 − 0.05 = 0.95 → z = 1.645       95%:  0.975 → 1.960       99%:  0.995 → 2.576</a:t>
            </a:r>
            <a:endParaRPr lang="en-US" sz="2000" b="1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pic>
        <p:nvPicPr>
          <p:cNvPr id="7" name="l20_crit_values.png">
            <a:extLst>
              <a:ext uri="{FF2B5EF4-FFF2-40B4-BE49-F238E27FC236}">
                <a16:creationId xmlns:a16="http://schemas.microsoft.com/office/drawing/2014/main" id="{47B046B2-4D06-D1BA-3A71-AC874840739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706132"/>
            <a:ext cx="106680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798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critical values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6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Find the area 1 − α/2 inside the z-table, then read off z.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C = 80%;     C = 90%;     C = 99%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9746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What is α/2 for each?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What area to the left do we look up?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(c)  What is the critical value?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838536"/>
            <a:ext cx="10668000" cy="109805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80%:  α/2 = 0.10,   area 0.90   →  z = 1.28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90%:  α/2 = 0.05,   area 0.95   →  z = 1.645  (halfway between 1.64 and 1.65)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99%:  α/2 = 0.005,  area 0.995  →  z = 2.576  (between 2.57 and 2.58)</a:t>
            </a:r>
          </a:p>
        </p:txBody>
      </p:sp>
    </p:spTree>
    <p:extLst>
      <p:ext uri="{BB962C8B-B14F-4D97-AF65-F5344CB8AC3E}">
        <p14:creationId xmlns:p14="http://schemas.microsoft.com/office/powerpoint/2010/main" val="641704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Data: a gene and a drug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7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Clopidogrel (Plavix), a blood thinner used after heart attacks and stents, is switched on by the liver enzyme CYP2C19.  People with the CYP2C19*2 variant switch on less of it.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551331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X = 1 if a person carries at least one copy of *2, and 0 otherwise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5288241"/>
            <a:ext cx="10668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n = 504 East Asian participants of the 1000 Genomes Project, which sequenced 2,504 people worldwide to catalog human genetic variation</a:t>
            </a:r>
          </a:p>
        </p:txBody>
      </p:sp>
      <p:graphicFrame>
        <p:nvGraphicFramePr>
          <p:cNvPr id="5" name="Data table">
            <a:extLst>
              <a:ext uri="{FF2B5EF4-FFF2-40B4-BE49-F238E27FC236}">
                <a16:creationId xmlns:a16="http://schemas.microsoft.com/office/drawing/2014/main" id="{107D57CA-D659-5E39-E6B7-B1821FDE19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081044"/>
              </p:ext>
            </p:extLst>
          </p:nvPr>
        </p:nvGraphicFramePr>
        <p:xfrm>
          <a:off x="762000" y="3053041"/>
          <a:ext cx="9017000" cy="21336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330255408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3431246229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392351544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68607093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565048366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PERSON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POPULATION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GENOTYPE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COPIES OF *2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37359791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HG00403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Southern Han Chinese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G/G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18848343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HG00404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Southern Han Chinese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A/A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121469226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HG00406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Southern Han Chinese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G/A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289354513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HG00407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Southern Han Chinese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G/G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352587576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HG00409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Southern Han Chinese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G/G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344972088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994042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9925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carriers of CYP2C19*2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8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Estimate p, the proportion of all individuals of East Asian descent who carry the *2 variant.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277 of n = 504 people are carriers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9746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What is p̂? Is the check met? What is the standard error?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What are the 90%, 95% and 99% confidence intervals for p?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(c)  Can we say more than half of people carry *2?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838536"/>
            <a:ext cx="10668000" cy="2039243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p̂ = 277 / 504 ≈ 0.550;    277 and 227 are both &gt; 5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      SE = √(0.550 × 0.450 / 504) ≈ 0.022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90%:  0.550 ± 1.645(0.022):  0.514 to 0.586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      95%:  0.550 ± 1.960(0.022):  0.507 to 0.593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      99%:  0.550 ± 2.576(0.022):  0.493 to 0.607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(c)  At 90% and 95%, yes;  the 99% interval includes 0.5</a:t>
            </a:r>
          </a:p>
        </p:txBody>
      </p:sp>
    </p:spTree>
    <p:extLst>
      <p:ext uri="{BB962C8B-B14F-4D97-AF65-F5344CB8AC3E}">
        <p14:creationId xmlns:p14="http://schemas.microsoft.com/office/powerpoint/2010/main" val="1844097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4222</TotalTime>
  <Words>774</Words>
  <Application>Microsoft Office PowerPoint</Application>
  <PresentationFormat>Widescreen</PresentationFormat>
  <Paragraphs>93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Lecture 20 Confidence Levels and Critical Values</vt:lpstr>
      <vt:lpstr>Review</vt:lpstr>
      <vt:lpstr>Why 95%?</vt:lpstr>
      <vt:lpstr>Confidence levels</vt:lpstr>
      <vt:lpstr>Where z comes from</vt:lpstr>
      <vt:lpstr>Example: critical values</vt:lpstr>
      <vt:lpstr>Data: a gene and a drug</vt:lpstr>
      <vt:lpstr>Example: carriers of CYP2C19*2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Jarred Kvamme</dc:creator>
  <cp:lastModifiedBy>Jarred Kvamme</cp:lastModifiedBy>
  <cp:revision>433</cp:revision>
  <dcterms:created xsi:type="dcterms:W3CDTF">2023-08-05T23:57:41Z</dcterms:created>
  <dcterms:modified xsi:type="dcterms:W3CDTF">2026-10-21T20:37:46Z</dcterms:modified>
</cp:coreProperties>
</file>