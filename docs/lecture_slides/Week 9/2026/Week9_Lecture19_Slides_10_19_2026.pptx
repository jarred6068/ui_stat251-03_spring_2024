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257" r:id="rId3"/>
    <p:sldId id="427" r:id="rId4"/>
    <p:sldId id="428" r:id="rId5"/>
    <p:sldId id="429" r:id="rId6"/>
    <p:sldId id="430" r:id="rId7"/>
    <p:sldId id="431" r:id="rId8"/>
    <p:sldId id="426" r:id="rId9"/>
    <p:sldId id="417" r:id="rId10"/>
    <p:sldId id="418" r:id="rId11"/>
    <p:sldId id="419" r:id="rId12"/>
    <p:sldId id="420" r:id="rId13"/>
    <p:sldId id="421" r:id="rId14"/>
    <p:sldId id="422" r:id="rId15"/>
    <p:sldId id="360" r:id="rId16"/>
    <p:sldId id="423" r:id="rId17"/>
    <p:sldId id="424" r:id="rId18"/>
    <p:sldId id="432" r:id="rId19"/>
    <p:sldId id="433" r:id="rId20"/>
    <p:sldId id="434" r:id="rId21"/>
    <p:sldId id="43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19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Normal Probabilities, the Central Limit Theorem and Confidence Intervals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What is a sampling distribution?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distribution of a statistic, such as x̄, over all possible samples of size n.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What is the standard error of x̄?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σ / √n:  how much x̄ varies from sample to sample.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For a continuous random variable, what is P(X = c)?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0: a single value has no width, so it has no area under the curve.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   </a:t>
            </a:r>
            <a:r>
              <a:rPr lang="en-US" b="1"/>
              <a:t>What is the standard normal distribution?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N(0, 1): the normal distribution of z-scores, with mean 0 and standard deviation 1.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480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Three kinds of area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z-table gives one kind of area only:  the area to the left of z,  P(Z ≤ z).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How would you get each shaded area from the z-table?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347732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lower tail:  P(Z &lt; z) = table value          upper tail:  P(Z &gt; z) = 1 − table value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area between:  P(a &lt; Z &lt; b) = table value at b  −  table value at a</a:t>
            </a:r>
          </a:p>
        </p:txBody>
      </p:sp>
      <p:pic>
        <p:nvPicPr>
          <p:cNvPr id="6" name="l19_three_areas.png">
            <a:extLst>
              <a:ext uri="{FF2B5EF4-FFF2-40B4-BE49-F238E27FC236}">
                <a16:creationId xmlns:a16="http://schemas.microsoft.com/office/drawing/2014/main" id="{BB3A8C35-8475-7928-F217-676252B482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31532"/>
            <a:ext cx="10668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5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lower tail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Z ~ N(0, 1), the standard normal.  Find each shaded area with the z-table.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l-PL" b="1">
                <a:solidFill>
                  <a:srgbClr val="C00000"/>
                </a:solidFill>
                <a:latin typeface="Calibri" panose="020F0502020204030204" pitchFamily="34" charset="0"/>
              </a:rPr>
              <a:t>(a)  P(Z &lt; 1.25)?          (b)  P(Z &lt; −0.84)?</a:t>
            </a:r>
            <a:endParaRPr lang="en-US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3477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0.8944          (b)  0.2005</a:t>
            </a:r>
          </a:p>
        </p:txBody>
      </p:sp>
      <p:pic>
        <p:nvPicPr>
          <p:cNvPr id="6" name="l19_lower.png">
            <a:extLst>
              <a:ext uri="{FF2B5EF4-FFF2-40B4-BE49-F238E27FC236}">
                <a16:creationId xmlns:a16="http://schemas.microsoft.com/office/drawing/2014/main" id="{7D39662F-5FC5-836D-BEA0-480C5247A3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2731532"/>
            <a:ext cx="8636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7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upper tail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Z ~ N(0, 1).  The table gives the area to the left, so subtract it from 1.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l-PL" b="1">
                <a:solidFill>
                  <a:srgbClr val="C00000"/>
                </a:solidFill>
                <a:latin typeface="Calibri" panose="020F0502020204030204" pitchFamily="34" charset="0"/>
              </a:rPr>
              <a:t>(a)  P(Z &gt; 1.80)?          (b)  P(Z &gt; −1.30)?</a:t>
            </a:r>
            <a:endParaRPr lang="en-US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3477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1 − 0.9641 = 0.0359          (b)  1 − 0.0968 = 0.9032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l19_upper.png">
            <a:extLst>
              <a:ext uri="{FF2B5EF4-FFF2-40B4-BE49-F238E27FC236}">
                <a16:creationId xmlns:a16="http://schemas.microsoft.com/office/drawing/2014/main" id="{FC268ADF-0BBB-CE31-D30D-B1E7EDBA8F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2731532"/>
            <a:ext cx="8636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area between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Z ~ N(0, 1).  Take the area to the left of the larger value, minus the area to the left of the smaller.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l-PL" b="1">
                <a:solidFill>
                  <a:srgbClr val="C00000"/>
                </a:solidFill>
                <a:latin typeface="Calibri" panose="020F0502020204030204" pitchFamily="34" charset="0"/>
              </a:rPr>
              <a:t>(a)  P(−1.30 &lt; Z &lt; 1.80)?          (b)  P(−1.96 &lt; Z &lt; 1.96)?</a:t>
            </a:r>
            <a:endParaRPr lang="en-US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3477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0.9641 − 0.0968 = 0.8673          (b)  0.9750 − 0.0250 = 0.9500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l19_between.png">
            <a:extLst>
              <a:ext uri="{FF2B5EF4-FFF2-40B4-BE49-F238E27FC236}">
                <a16:creationId xmlns:a16="http://schemas.microsoft.com/office/drawing/2014/main" id="{135613BC-EABD-18F7-22BA-7B80F22899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2731532"/>
            <a:ext cx="8636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8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finding areas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Sketch the curve and shade the area first, then use the z-table.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Z ~ N(0, 1)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P(Z ≤ 2.00)?          (b)  P(Z &gt; 0.50)?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P(−1 &lt; Z &lt; 1)?          (d)  P(−2 &lt; Z &lt; 2)?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Which rule from Week 6 do (c) and (d) match?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0.9772          (b)  1 − 0.6915 = 0.3085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0.8413 − 0.1587 = 0.6826          (d)  0.9772 − 0.0228 = 0.9544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The empirical rule:  about 68% within 1 SD and 95% within 2 SD</a:t>
            </a:r>
          </a:p>
        </p:txBody>
      </p:sp>
    </p:spTree>
    <p:extLst>
      <p:ext uri="{BB962C8B-B14F-4D97-AF65-F5344CB8AC3E}">
        <p14:creationId xmlns:p14="http://schemas.microsoft.com/office/powerpoint/2010/main" val="14481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waiting for a goal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2022 World Cup had 172 goals in 64 matches: 2.69 goals per 90-minute match.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3114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minutes until the next goal, simulated at 2.69 goals per 90 minutes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991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μ = 90 / 2.69 ≈ 33.5 min;   σ ≈ 33.5 min.   Most waits are short and a few are very long.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483959"/>
              </p:ext>
            </p:extLst>
          </p:nvPr>
        </p:nvGraphicFramePr>
        <p:xfrm>
          <a:off x="762000" y="2838510"/>
          <a:ext cx="3810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WAIT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MINUTES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54.3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57.3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27.2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18.3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00999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998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Averaging a skewed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Each panel: draw n waits, average them to get x̄, and repeat 10,000 times (n = 1 is a single wait).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As n grows, what happens to the shape, the center and the spread of x̄?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4874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Shape: the skew fades into a bell.   Center: stays at 33.5.   Spread: shrinks like σ / √n</a:t>
            </a:r>
          </a:p>
        </p:txBody>
      </p:sp>
      <p:pic>
        <p:nvPicPr>
          <p:cNvPr id="7" name="l18_clt_goals.png">
            <a:extLst>
              <a:ext uri="{FF2B5EF4-FFF2-40B4-BE49-F238E27FC236}">
                <a16:creationId xmlns:a16="http://schemas.microsoft.com/office/drawing/2014/main" id="{3E5C2E90-12D8-2822-9FB1-C2183DE965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06132"/>
            <a:ext cx="1066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9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central limit theorem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central limit theorem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for large n, x̄ is approximately N(μ, σ / √n), whatever the shape of the population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how large is large enough?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 ≥ 30 for x̄;     np &gt; 5 and n(1 − p) &gt; 5 for p̂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why it matters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empirical rule applies:  about 95% of samples give a statistic within 2 SE of its mean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1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CLT for a proportion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Exact sampling distributions of p̂, the proportion of free throws Stephen Curry makes;  p = 0.912.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For which n is n(1 − p) &gt; 5? Which distributions look like a bell?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4874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n(1 − p) = 0.88,  2.64,  8.8:  only n = 100 passes, and only n = 100 is close to a bell</a:t>
            </a:r>
          </a:p>
        </p:txBody>
      </p:sp>
      <p:pic>
        <p:nvPicPr>
          <p:cNvPr id="7" name="l18_phat_curry.png">
            <a:extLst>
              <a:ext uri="{FF2B5EF4-FFF2-40B4-BE49-F238E27FC236}">
                <a16:creationId xmlns:a16="http://schemas.microsoft.com/office/drawing/2014/main" id="{E1C1137D-42A1-4D9F-45D0-027AB419DB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06132"/>
            <a:ext cx="1066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free throws, again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Over a stretch of n = 100 free throws, let p̂ be the proportion Curry makes.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p = 0.912;     n = 100;     n(1 − p) = 8.8 &gt; 5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are the mean and standard error of p̂?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About 95% of the time, p̂ falls between what two values?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mean 0.912;    SE = √(0.912 × 0.088 / 100) ≈ 0.028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0.912 ± 2(0.028):   0.856 to 0.968</a:t>
            </a:r>
          </a:p>
        </p:txBody>
      </p:sp>
    </p:spTree>
    <p:extLst>
      <p:ext uri="{BB962C8B-B14F-4D97-AF65-F5344CB8AC3E}">
        <p14:creationId xmlns:p14="http://schemas.microsoft.com/office/powerpoint/2010/main" val="125527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a tournament’s average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Goals per World Cup match:  X ~ Poisson(λ = 2.69). A tournament averages over 64 matches.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l-GR" sz="2000" b="1">
                <a:solidFill>
                  <a:srgbClr val="000000"/>
                </a:solidFill>
                <a:latin typeface="Calibri" panose="020F0502020204030204" pitchFamily="34" charset="0"/>
              </a:rPr>
              <a:t>μ = λ = 2.69;     σ = √2.69 ≈ 1.64;     n = 64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the standard error of a tournament’s average?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About 95% of tournaments average between what two values?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How likely is a tournament that averages 3 or more goals per match?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131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1.64 / √64 ≈ 0.205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2.69 ± 2(0.205):   2.28 to 3.10 goals per match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z = (3 − 2.69) / 0.205 = 1.51:   P(Z &gt; 1.51) = 1 − 0.9345 = 0.0655</a:t>
            </a:r>
          </a:p>
        </p:txBody>
      </p:sp>
    </p:spTree>
    <p:extLst>
      <p:ext uri="{BB962C8B-B14F-4D97-AF65-F5344CB8AC3E}">
        <p14:creationId xmlns:p14="http://schemas.microsoft.com/office/powerpoint/2010/main" val="307955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From an estimate to an interval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point estimate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single statistic used to estimate a parameter:  x̄ for μ,  p̂ for 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confidence interval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range of plausible values for the parameter:  estimate ± margin of error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95% confidence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method captures the parameter in about 95% of all possible samples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7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Spotify songs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Spotify and YouTube statistics for the top 10 songs of each of 2,079 popular artists, collected in February 2023.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3114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length of a song, in minutes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991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18,860 different songs   (a song credited to several artists is counted once)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579049"/>
              </p:ext>
            </p:extLst>
          </p:nvPr>
        </p:nvGraphicFramePr>
        <p:xfrm>
          <a:off x="762000" y="2838510"/>
          <a:ext cx="3810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61917886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TRACK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ARTIST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MINUTES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Feel Good Inc.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Gorillaz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3.71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Rhinestone Eyes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Gorillaz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3.34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New Gold (feat. Tame Impala and Bootie Brown)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Gorillaz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3.59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On Melancholy Hill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Gorillaz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3.90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Clint Eastwood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Gorillaz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5.68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00999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205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How often does an interval capture μ?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25 random samples of n = 20 songs;  each line is x̄ ± 2(0.34), the margin of error.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How many of the 25 intervals capture μ = 3.71?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4874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24 of 25:  about 95% of intervals made this way capture μ</a:t>
            </a:r>
          </a:p>
        </p:txBody>
      </p:sp>
      <p:pic>
        <p:nvPicPr>
          <p:cNvPr id="6" name="l18_ci_cover.png">
            <a:extLst>
              <a:ext uri="{FF2B5EF4-FFF2-40B4-BE49-F238E27FC236}">
                <a16:creationId xmlns:a16="http://schemas.microsoft.com/office/drawing/2014/main" id="{B7ADDB0A-1FE2-1E34-7D02-8FC4D818928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2706132"/>
            <a:ext cx="812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9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an interval for mean song length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In practice we see only one sample:  n = 20 songs (the bottom interval on the last slide).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it-IT" sz="2000" b="1">
                <a:solidFill>
                  <a:srgbClr val="000000"/>
                </a:solidFill>
                <a:latin typeface="Calibri" panose="020F0502020204030204" pitchFamily="34" charset="0"/>
              </a:rPr>
              <a:t>x̄ = 3.64 min;     σ = 1.51 min;     SE = 0.34 min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the 95% confidence interval for μ?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Does it capture μ = 3.71?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If we did not know μ, what would “95% confident” mean?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3.64 ± 2(0.34):   2.96 to 4.32 min          (b)  Yes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95% of intervals built this way capture μ;  this one either does or does not</a:t>
            </a:r>
          </a:p>
        </p:txBody>
      </p:sp>
    </p:spTree>
    <p:extLst>
      <p:ext uri="{BB962C8B-B14F-4D97-AF65-F5344CB8AC3E}">
        <p14:creationId xmlns:p14="http://schemas.microsoft.com/office/powerpoint/2010/main" val="113457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Confidence intervals for μ and for 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for a mean </a:t>
            </a:r>
            <a:r>
              <a:rPr lang="el-GR" sz="1600">
                <a:solidFill>
                  <a:srgbClr val="000000"/>
                </a:solidFill>
              </a:rPr>
              <a:t>μ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x̄ ± 2</a:t>
            </a:r>
            <a:r>
              <a:rPr lang="el-GR" sz="1600" b="1">
                <a:solidFill>
                  <a:srgbClr val="C00000"/>
                </a:solidFill>
              </a:rPr>
              <a:t>σ / √</a:t>
            </a:r>
            <a:r>
              <a:rPr lang="en-US" sz="1600" b="1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for a proportion 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p̂ ± 2√(p̂(1 − p̂) / n):   p is unknown, so the standard error uses p̂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when it 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CLT applies:   n ≥ 30 for x̄;     np̂ &gt; 5 and n(1 − p̂) &gt; 5 for p̂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0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teens and cell phones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Pew Research Center survey asked 743 U.S. teens aged 13–17:  “Are you losing focus in class by checking your cell phone?”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6275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1 if a teen answers “sometimes” or “often”, and 0 otherwise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59641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n = 743 teens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201874"/>
              </p:ext>
            </p:extLst>
          </p:nvPr>
        </p:nvGraphicFramePr>
        <p:xfrm>
          <a:off x="762000" y="3129241"/>
          <a:ext cx="3810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RESPONSE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TEENS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Never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289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Rarely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216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Sometimes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178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Often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743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089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losing focus in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20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Estimate p, the proportion of all U.S. teens who lose focus in class “sometimes” or “often”.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178 + 60 = 238 of n = 743 teens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p̂? Are there more than 5 successes and 5 failures?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the standard error of p̂?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the 95% confidence interval for p?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p̂ = 238 / 743 ≈ 0.320;    238 and 505 are both &gt; 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√(0.320 × 0.680 / 743) ≈ 0.017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0.320 ± 2(0.017):   0.286 to 0.354</a:t>
            </a:r>
          </a:p>
        </p:txBody>
      </p:sp>
    </p:spTree>
    <p:extLst>
      <p:ext uri="{BB962C8B-B14F-4D97-AF65-F5344CB8AC3E}">
        <p14:creationId xmlns:p14="http://schemas.microsoft.com/office/powerpoint/2010/main" val="23614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areas under the normal curve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lower tail = table value;   upper tail = 1 − table value;   between = difference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central limit theorem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for large n, x̄ and p̂ are approximately normal, whatever the population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confidence interval for </a:t>
            </a:r>
            <a:r>
              <a:rPr lang="el-GR" sz="1600">
                <a:solidFill>
                  <a:srgbClr val="000000"/>
                </a:solidFill>
              </a:rPr>
              <a:t>μ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x̄ ± 2</a:t>
            </a:r>
            <a:r>
              <a:rPr lang="el-GR" sz="1600" b="1">
                <a:solidFill>
                  <a:srgbClr val="C00000"/>
                </a:solidFill>
              </a:rPr>
              <a:t>σ / √</a:t>
            </a:r>
            <a:r>
              <a:rPr lang="en-US" sz="1600" b="1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confidence interval for 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p̂ ± 2√(p̂(1 − p̂) / n):   about 95% of intervals made this way capture p</a:t>
            </a:r>
          </a:p>
        </p:txBody>
      </p:sp>
    </p:spTree>
    <p:extLst>
      <p:ext uri="{BB962C8B-B14F-4D97-AF65-F5344CB8AC3E}">
        <p14:creationId xmlns:p14="http://schemas.microsoft.com/office/powerpoint/2010/main" val="105239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4124</TotalTime>
  <Words>1769</Words>
  <Application>Microsoft Office PowerPoint</Application>
  <PresentationFormat>Widescreen</PresentationFormat>
  <Paragraphs>190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Lecture 19 Normal Probabilities, the Central Limit Theorem and Confidence Intervals</vt:lpstr>
      <vt:lpstr>Review</vt:lpstr>
      <vt:lpstr>Three kinds of area</vt:lpstr>
      <vt:lpstr>Example: lower tail</vt:lpstr>
      <vt:lpstr>Example: upper tail</vt:lpstr>
      <vt:lpstr>Example: area between</vt:lpstr>
      <vt:lpstr>Practice: finding areas</vt:lpstr>
      <vt:lpstr>Data: waiting for a goal</vt:lpstr>
      <vt:lpstr>Averaging a skewed variable</vt:lpstr>
      <vt:lpstr>The central limit theorem</vt:lpstr>
      <vt:lpstr>The CLT for a proportion</vt:lpstr>
      <vt:lpstr>Example: free throws, again</vt:lpstr>
      <vt:lpstr>Example: a tournament’s average</vt:lpstr>
      <vt:lpstr>From an estimate to an interval</vt:lpstr>
      <vt:lpstr>Data: Spotify songs</vt:lpstr>
      <vt:lpstr>How often does an interval capture μ?</vt:lpstr>
      <vt:lpstr>Example: an interval for mean song length</vt:lpstr>
      <vt:lpstr>Confidence intervals for μ and for p</vt:lpstr>
      <vt:lpstr>Data: teens and cell phones</vt:lpstr>
      <vt:lpstr>Example: losing focus in class</vt:lpstr>
      <vt:lpstr>What you should know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429</cp:revision>
  <dcterms:created xsi:type="dcterms:W3CDTF">2023-08-05T23:57:41Z</dcterms:created>
  <dcterms:modified xsi:type="dcterms:W3CDTF">2026-10-18T20:11:34Z</dcterms:modified>
</cp:coreProperties>
</file>