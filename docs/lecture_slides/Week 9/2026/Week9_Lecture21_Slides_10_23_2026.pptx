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0" r:id="rId2"/>
    <p:sldId id="437" r:id="rId3"/>
    <p:sldId id="436" r:id="rId4"/>
    <p:sldId id="441" r:id="rId5"/>
    <p:sldId id="442" r:id="rId6"/>
    <p:sldId id="443" r:id="rId7"/>
    <p:sldId id="444" r:id="rId8"/>
    <p:sldId id="445" r:id="rId9"/>
    <p:sldId id="446" r:id="rId10"/>
    <p:sldId id="447" r:id="rId11"/>
    <p:sldId id="448" r:id="rId12"/>
    <p:sldId id="449" r:id="rId13"/>
    <p:sldId id="450" r:id="rId14"/>
    <p:sldId id="451" r:id="rId15"/>
    <p:sldId id="452" r:id="rId16"/>
    <p:sldId id="453" r:id="rId17"/>
    <p:sldId id="455" r:id="rId18"/>
    <p:sldId id="456" r:id="rId19"/>
    <p:sldId id="45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6" d="100"/>
          <a:sy n="76" d="100"/>
        </p:scale>
        <p:origin x="6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821C1-92D8-0827-CE2B-80FEA840C2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EA748-2C8E-5D78-5734-D9BCC16ECD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15553-DE39-3C41-4AFF-70F29A86E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2837C-8079-1B7F-0DCF-61C39ED30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5E205-162F-206E-F4C6-EB23D9DC1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874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13490-30A7-12A6-2775-77578A346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7B95F-B119-D057-5670-8EC21A84E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D001D-CEFB-FD30-FB40-0BEA5B52D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3377D-E7F3-D264-FB03-A4AF3E336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48992-A907-9503-F005-BAA8A33CE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803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6B320-EDC1-EDD2-5F4C-2A675BD0C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58A940-1637-AC6F-0247-A5E578765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2A479-CAFF-245E-F61F-3D6F3E5C8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24E38-70F9-0CAE-F19E-6DDE60057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74C88-12BC-0657-008B-8419B1E10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099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02A09-336F-FDC8-F0C1-F84E09726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F6849-08AF-456F-8C3C-E6DE37B3B9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7E5562-6B4C-F11F-DF48-D254599EAA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A69C05-114E-11FE-5C76-D6F191757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71C5D0-A8D9-EEF2-15E4-CE74A390A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9944C5-75A0-666E-C3DD-6839AB176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10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EC19E-080C-F794-EB45-FB4903CDD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5744A-FDBE-87AE-7AF1-3AC154DB2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1970E4-B2B1-0370-3C26-0D1A5A0023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A4F036-B8A8-878F-A1CB-05DAE58015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8B7F82-EBC0-322A-130D-972F39800F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21A5BB-D71E-872F-6F0E-2279BE484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C56747-8CBE-BF00-C39A-F442E724C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E2C14A-6287-B5B6-C760-7F506FD87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436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E9713-B0F2-9D1D-23FC-F5900F773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6FC7EC-16C8-C311-316C-6D99B4F99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FE4DA7-A4C5-460E-592C-CEF23DF38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6F3F89-7820-6BF8-A747-E433ED21A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244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EAD0FD-7A61-970C-10A9-76E2B39DA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F95651-C89A-3C9B-3D47-F7E5CAF6B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09228-92F1-54DE-D9B2-4AC018D50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303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3F474-02F7-A264-4B8D-717F5EB00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A8C9F-750F-7D81-0E80-7FBCDEBEB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0A1C0B-C510-B118-D8FA-12722456A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94604E-EC60-44AD-4B70-12B2B49AE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22C4B9-91B9-9E0E-9278-1C0433768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1E60F-F796-8B15-08E9-61BA30F0D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505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E564D-22A0-8A8D-C6FE-D62998433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713DEA-5246-B946-AFE4-3B305BCDB1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4208CC-31DD-00AF-BFC4-37F7B4BF3C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7E30D-B05F-B2CA-9A3C-E01E2B6B0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08FCE-463A-D1B2-8A60-3B6744202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438537-A621-46D4-781D-4E36BF836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242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105C2-17EC-1173-1FC9-8A7FC1018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BBB4A-325C-1F27-06A3-6F4F1A8F5C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A6F55-A1EF-6AEC-99F0-DBF50F5EB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1FD1D-86F4-EDE3-1CCE-ADED2161B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E0593-ABE9-0E50-7A75-9252A5A1F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965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87FF77-0DAD-7CA9-B02D-208C020489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9298FA-F111-2C9C-551D-A1F30B239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1B556-1ED0-55E4-9235-352E1A162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4A71E-8AC3-EA68-1DCB-99E68A465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B1CF60-74F8-B2C5-26C3-77536C36C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366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18B48B-0371-7ADD-E5C3-345B4D6CB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B5A92-73C5-8CE0-7C84-BE7902E60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5212B-F67A-E417-B1FE-C389458DF2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82561-BD16-4A95-ACA1-5204E478F2FE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9799A-D006-E28E-8EED-4BE2AFCB8D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69CB4-3B3A-FD13-F7E0-B4A0F34767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91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F151A-3AFE-974F-DDC4-9B99389C3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4105419"/>
          </a:xfrm>
        </p:spPr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Lecture 21</a:t>
            </a:r>
            <a:br>
              <a:rPr lang="en-US">
                <a:solidFill>
                  <a:srgbClr val="1F3864"/>
                </a:solidFill>
              </a:rPr>
            </a:br>
            <a:r>
              <a:rPr lang="en-US">
                <a:solidFill>
                  <a:srgbClr val="1F3864"/>
                </a:solidFill>
              </a:rPr>
              <a:t>t Intervals and Sample Size</a:t>
            </a:r>
            <a:endParaRPr lang="en-US" dirty="0">
              <a:solidFill>
                <a:srgbClr val="1F386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6479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Would you board this plane?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An airplane maker’s study of its new passenger jet estimates the probability of a catastrophic in-flight failure.  Your flight to the Bahamas is on one of these planes.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551331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between 0.00012 and 0.0054 per flight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976841"/>
            <a:ext cx="10668000" cy="15799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(1)  Would you feel comfortable flying on this plane?  Why or why not?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(2)  If the maker could report this interval at 90%, 95% or 99% confidence,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       which would you want them to use?  Why?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(3)  Would you feel differently if the interval were narrower but had a lower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       confidence level?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4709161"/>
            <a:ext cx="10668000" cy="109805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0.00012 is 1 failure in 8,300 flights;   0.0054 is 1 in 185 flights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Airliners today:  1 fatal accident per 5.6 million flights  (IATA, 2021–2025)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Even the best case is about 670 times riskier than a typical flight</a:t>
            </a:r>
          </a:p>
        </p:txBody>
      </p:sp>
    </p:spTree>
    <p:extLst>
      <p:ext uri="{BB962C8B-B14F-4D97-AF65-F5344CB8AC3E}">
        <p14:creationId xmlns:p14="http://schemas.microsoft.com/office/powerpoint/2010/main" val="2267001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5104"/>
          </a:xfrm>
        </p:spPr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Review</a:t>
            </a:r>
            <a:endParaRPr lang="en-US" dirty="0">
              <a:solidFill>
                <a:srgbClr val="1F3864"/>
              </a:solidFill>
            </a:endParaRPr>
          </a:p>
        </p:txBody>
      </p:sp>
      <p:sp>
        <p:nvSpPr>
          <p:cNvPr id="3" name="Question 1"/>
          <p:cNvSpPr/>
          <p:nvPr/>
        </p:nvSpPr>
        <p:spPr>
          <a:xfrm>
            <a:off x="838200" y="107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1   </a:t>
            </a:r>
            <a:r>
              <a:rPr lang="en-US" b="1"/>
              <a:t>   What does the confidence level C tell us?</a:t>
            </a:r>
            <a:endParaRPr lang="en-US" b="1" dirty="0"/>
          </a:p>
        </p:txBody>
      </p:sp>
      <p:sp>
        <p:nvSpPr>
          <p:cNvPr id="4" name="Answer 1"/>
          <p:cNvSpPr txBox="1"/>
          <p:nvPr/>
        </p:nvSpPr>
        <p:spPr>
          <a:xfrm>
            <a:off x="1066800" y="1655688"/>
            <a:ext cx="10058400" cy="6502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The share of all intervals built this way that capture the parameter:  90%, 95%, 99%.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5" name="Question 2"/>
          <p:cNvSpPr/>
          <p:nvPr/>
        </p:nvSpPr>
        <p:spPr>
          <a:xfrm>
            <a:off x="838200" y="238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2   </a:t>
            </a:r>
            <a:r>
              <a:rPr lang="en-US" b="1"/>
              <a:t>   What is </a:t>
            </a:r>
            <a:r>
              <a:rPr lang="el-GR" b="1"/>
              <a:t>α?</a:t>
            </a:r>
            <a:endParaRPr lang="en-US" b="1" dirty="0"/>
          </a:p>
        </p:txBody>
      </p:sp>
      <p:sp>
        <p:nvSpPr>
          <p:cNvPr id="6" name="Answer 2"/>
          <p:cNvSpPr txBox="1"/>
          <p:nvPr/>
        </p:nvSpPr>
        <p:spPr>
          <a:xfrm>
            <a:off x="1066800" y="2965688"/>
            <a:ext cx="10058400" cy="5892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The error rate, the share of intervals that miss:  α = 1 − C.  At 95%, α = 0.05, so 0.025 in each tail.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7" name="Question 3"/>
          <p:cNvSpPr/>
          <p:nvPr/>
        </p:nvSpPr>
        <p:spPr>
          <a:xfrm>
            <a:off x="838200" y="369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3   </a:t>
            </a:r>
            <a:r>
              <a:rPr lang="en-US" b="1"/>
              <a:t>   What is the critical value, and what does it do to the width?</a:t>
            </a:r>
            <a:endParaRPr lang="en-US" b="1" dirty="0"/>
          </a:p>
        </p:txBody>
      </p:sp>
      <p:sp>
        <p:nvSpPr>
          <p:cNvPr id="8" name="Answer 3"/>
          <p:cNvSpPr txBox="1"/>
          <p:nvPr/>
        </p:nvSpPr>
        <p:spPr>
          <a:xfrm>
            <a:off x="1066800" y="4275688"/>
            <a:ext cx="10058400" cy="5585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z</a:t>
            </a:r>
            <a:r>
              <a:rPr lang="en-US" sz="1600" baseline="-25000">
                <a:solidFill>
                  <a:srgbClr val="C00000"/>
                </a:solidFill>
              </a:rPr>
              <a:t>1−α/2</a:t>
            </a:r>
            <a:r>
              <a:rPr lang="en-US" sz="1600">
                <a:solidFill>
                  <a:srgbClr val="C00000"/>
                </a:solidFill>
              </a:rPr>
              <a:t>, the number of SEs in estimate ± z × SE.  Higher C → bigger z → wider interval.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66091C9-B7EB-6BBE-A602-1479CDF97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3</a:t>
            </a:fld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4158075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Data: a gene and a drug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4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Clopidogrel (Plavix), a blood thinner used after heart attacks and stents, is switched on by the liver enzyme CYP2C19.  People with the CYP2C19*2 variant switch on less of it.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551331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X = 1 if a person carries at least one copy of *2, and 0 otherwise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5288241"/>
            <a:ext cx="10668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n = 504 East Asian participants of the 1000 Genomes Project, which sequenced 2,504 people worldwide to catalog human genetic variation</a:t>
            </a:r>
          </a:p>
        </p:txBody>
      </p:sp>
      <p:graphicFrame>
        <p:nvGraphicFramePr>
          <p:cNvPr id="5" name="Data table">
            <a:extLst>
              <a:ext uri="{FF2B5EF4-FFF2-40B4-BE49-F238E27FC236}">
                <a16:creationId xmlns:a16="http://schemas.microsoft.com/office/drawing/2014/main" id="{107D57CA-D659-5E39-E6B7-B1821FDE19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081044"/>
              </p:ext>
            </p:extLst>
          </p:nvPr>
        </p:nvGraphicFramePr>
        <p:xfrm>
          <a:off x="762000" y="3053041"/>
          <a:ext cx="9017000" cy="21336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330255408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3431246229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392351544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68607093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565048366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PERSON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POPULATION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GENOTYPE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COPIES OF *2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37359791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HG00403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Southern Han Chinese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G/G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18848343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HG00404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Southern Han Chinese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A/A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121469226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HG00406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Southern Han Chinese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G/A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289354513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HG00407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Southern Han Chinese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G/G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352587576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HG00409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Southern Han Chinese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G/G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344972088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9940422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9925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carriers of CYP2C19*2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5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Estimate p, the proportion of all individuals of East Asian descent who carry the *2 variant.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2860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277 of n = 504 people are carriers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711510"/>
            <a:ext cx="10668000" cy="9746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What is p̂? Is the check met? What is the standard error?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What are the 90%, 95% and 99% confidence intervals for p?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(c)  Can we say more than half of people carry *2?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3838536"/>
            <a:ext cx="10668000" cy="2039243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(a)  p̂ = 277 / 504 ≈ 0.550;    277 and 227 are both &gt; 5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      SE = √(0.550 × 0.450 / 504) ≈ 0.022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(b)  90%:  0.550 ± 1.645(0.022):  0.514 to 0.586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      95%:  0.550 ± 1.960(0.022):  0.507 to 0.593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      99%:  0.550 ± 2.576(0.022):  0.493 to 0.607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(c)  At 90% and 95%, yes;  the 99% interval includes 0.5</a:t>
            </a:r>
          </a:p>
        </p:txBody>
      </p:sp>
    </p:spTree>
    <p:extLst>
      <p:ext uri="{BB962C8B-B14F-4D97-AF65-F5344CB8AC3E}">
        <p14:creationId xmlns:p14="http://schemas.microsoft.com/office/powerpoint/2010/main" val="1844097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Making an interval narrower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6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The carrier interval (p̂ = 0.550) at four confidence levels, and at 95% with 4 times fewer or more people.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286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What happens to the width as C goes up?  As n goes up?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5487432"/>
            <a:ext cx="10668000" cy="470595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Higher C → wider.     4 times the n → half the width  (SE has √n on the bottom)</a:t>
            </a:r>
          </a:p>
        </p:txBody>
      </p:sp>
      <p:pic>
        <p:nvPicPr>
          <p:cNvPr id="7" name="l20_width.png">
            <a:extLst>
              <a:ext uri="{FF2B5EF4-FFF2-40B4-BE49-F238E27FC236}">
                <a16:creationId xmlns:a16="http://schemas.microsoft.com/office/drawing/2014/main" id="{23451720-5E0A-3C17-1245-844CB7EF6E7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706132"/>
            <a:ext cx="10668000" cy="27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836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What if σ is unknown?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7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Every interval for μ so far used σ, the population standard deviation.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2860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x̄ ± z </a:t>
            </a:r>
            <a:r>
              <a:rPr lang="el-GR" sz="2000" b="1">
                <a:solidFill>
                  <a:srgbClr val="000000"/>
                </a:solidFill>
                <a:latin typeface="Calibri" panose="020F0502020204030204" pitchFamily="34" charset="0"/>
              </a:rPr>
              <a:t>σ / √</a:t>
            </a: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n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711510"/>
            <a:ext cx="10668000" cy="67197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If we don’t know μ, do we know σ?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What could we use in its place?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3535889"/>
            <a:ext cx="10668000" cy="78432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(a)  Almost never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(b)  s, the sample standard deviation:   x̄ ± z s / √n.   Does that still work?</a:t>
            </a:r>
          </a:p>
        </p:txBody>
      </p:sp>
    </p:spTree>
    <p:extLst>
      <p:ext uri="{BB962C8B-B14F-4D97-AF65-F5344CB8AC3E}">
        <p14:creationId xmlns:p14="http://schemas.microsoft.com/office/powerpoint/2010/main" val="2692125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Does s in place of σ work?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8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Simulated:  100 samples of n = 5 whiskers from N(91, 8) mm;  each line is x̄ ± 1.96 s / √5.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286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A 95% method should miss about 5 times.  How many of these 100 miss μ?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5487432"/>
            <a:ext cx="10668000" cy="470595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12 of 100:  s changes from sample to sample, so the intervals are too narrow too often</a:t>
            </a:r>
          </a:p>
        </p:txBody>
      </p:sp>
      <p:pic>
        <p:nvPicPr>
          <p:cNvPr id="7" name="l20_s_coverage.png">
            <a:extLst>
              <a:ext uri="{FF2B5EF4-FFF2-40B4-BE49-F238E27FC236}">
                <a16:creationId xmlns:a16="http://schemas.microsoft.com/office/drawing/2014/main" id="{56E80C62-37D9-646C-E45C-217B469A121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0" y="2706132"/>
            <a:ext cx="9652000" cy="27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792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The t distribution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9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t distribution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a bell curve like N(0, 1) but with heavier tails;  use it when s replaces σ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413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degrees of freedom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0868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df = n − 1;  the more df, the closer t is to N(0, 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031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t critical value t</a:t>
            </a:r>
            <a:r>
              <a:rPr lang="en-US" sz="1600" baseline="-25000">
                <a:solidFill>
                  <a:srgbClr val="000000"/>
                </a:solidFill>
              </a:rPr>
              <a:t>n−1, 1−</a:t>
            </a:r>
            <a:r>
              <a:rPr lang="el-GR" sz="1600" baseline="-25000">
                <a:solidFill>
                  <a:srgbClr val="000000"/>
                </a:solidFill>
              </a:rPr>
              <a:t>α/2</a:t>
            </a:r>
            <a:endParaRPr lang="en-US" sz="1600" baseline="-25000">
              <a:solidFill>
                <a:srgbClr val="0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9486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from the t-table row for df = n − 1;  larger than z, so the interval is wider</a:t>
            </a:r>
            <a:endParaRPr lang="en-US" sz="1600" b="1" dirty="0">
              <a:solidFill>
                <a:srgbClr val="C00000"/>
              </a:solidFill>
            </a:endParaRP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342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t versus the standard normal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10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Density curves of t with 2, 5 and 30 degrees of freedom, and the standard normal N(0, 1).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286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Which curve has the heaviest tails?  What happens as df grows?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5487432"/>
            <a:ext cx="10668000" cy="470595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df = 2.   As df grows, t approaches N(0, 1);  by df = 30 they nearly match</a:t>
            </a:r>
          </a:p>
        </p:txBody>
      </p:sp>
      <p:pic>
        <p:nvPicPr>
          <p:cNvPr id="7" name="l20_t_vs_z.png">
            <a:extLst>
              <a:ext uri="{FF2B5EF4-FFF2-40B4-BE49-F238E27FC236}">
                <a16:creationId xmlns:a16="http://schemas.microsoft.com/office/drawing/2014/main" id="{7B66403A-08B4-5A35-6900-CD060D949E0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0" y="2706132"/>
            <a:ext cx="8128000" cy="27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617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reading the t-table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11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In the course t-table, the row is df = n − 1 and the column is the confidence level.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2860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pt-BR" sz="2000" b="1">
                <a:solidFill>
                  <a:srgbClr val="000000"/>
                </a:solidFill>
                <a:latin typeface="Calibri" panose="020F0502020204030204" pitchFamily="34" charset="0"/>
              </a:rPr>
              <a:t>95%, n = 10;     90%, n = 25;     99%, n = 10</a:t>
            </a:r>
            <a:endParaRPr lang="en-US" sz="2000" b="1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711510"/>
            <a:ext cx="10668000" cy="67197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What is the t critical value for each?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How does each compare with z for the same confidence level?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3535889"/>
            <a:ext cx="10668000" cy="78432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(a)  df = 9:  2.262          df = 24:  1.711          df = 9:  3.250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(b)  z = 1.960,  1.645,  2.576:   t is always larger</a:t>
            </a:r>
          </a:p>
        </p:txBody>
      </p:sp>
    </p:spTree>
    <p:extLst>
      <p:ext uri="{BB962C8B-B14F-4D97-AF65-F5344CB8AC3E}">
        <p14:creationId xmlns:p14="http://schemas.microsoft.com/office/powerpoint/2010/main" val="2363623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Which interval?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12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a proportion 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p̂ ± z √(p̂(1 − p̂) / n),   when np̂ &gt; 5 and n(1 − p̂) &gt; 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413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a mean μ, σ known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0868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x̄ ± z </a:t>
            </a:r>
            <a:r>
              <a:rPr lang="el-GR" sz="1600" b="1">
                <a:solidFill>
                  <a:srgbClr val="C00000"/>
                </a:solidFill>
              </a:rPr>
              <a:t>σ / √</a:t>
            </a:r>
            <a:r>
              <a:rPr lang="en-US" sz="1600" b="1">
                <a:solidFill>
                  <a:srgbClr val="C00000"/>
                </a:solidFill>
              </a:rPr>
              <a:t>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031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a mean μ, σ unknown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9486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x̄ ± t s / √n,   with df = n − 1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252B31-0A80-8297-9AB5-9AED735ACDE2}"/>
              </a:ext>
            </a:extLst>
          </p:cNvPr>
          <p:cNvSpPr txBox="1"/>
          <p:nvPr/>
        </p:nvSpPr>
        <p:spPr>
          <a:xfrm>
            <a:off x="762000" y="4464982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when the t interval works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980B2D-2D53-A814-88AF-46C2FDF3E298}"/>
              </a:ext>
            </a:extLst>
          </p:cNvPr>
          <p:cNvSpPr txBox="1"/>
          <p:nvPr/>
        </p:nvSpPr>
        <p:spPr>
          <a:xfrm>
            <a:off x="1117600" y="4810422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the population is roughly normal, or n ≥ 30</a:t>
            </a:r>
          </a:p>
        </p:txBody>
      </p:sp>
    </p:spTree>
    <p:extLst>
      <p:ext uri="{BB962C8B-B14F-4D97-AF65-F5344CB8AC3E}">
        <p14:creationId xmlns:p14="http://schemas.microsoft.com/office/powerpoint/2010/main" val="3339251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4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2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Data: seal whiskers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13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Ginter et al. (2012) measured the longest undamaged whisker of 92 seals and sea lions from 11 species, to study how whisker shape evolved.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551331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X = the total length of a seal’s longest whisker, in mm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5288241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One whisker per seal;  only each species’ n, mean and SD were published</a:t>
            </a:r>
          </a:p>
        </p:txBody>
      </p:sp>
      <p:graphicFrame>
        <p:nvGraphicFramePr>
          <p:cNvPr id="5" name="Data table">
            <a:extLst>
              <a:ext uri="{FF2B5EF4-FFF2-40B4-BE49-F238E27FC236}">
                <a16:creationId xmlns:a16="http://schemas.microsoft.com/office/drawing/2014/main" id="{107D57CA-D659-5E39-E6B7-B1821FDE19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8637757"/>
              </p:ext>
            </p:extLst>
          </p:nvPr>
        </p:nvGraphicFramePr>
        <p:xfrm>
          <a:off x="762000" y="3053041"/>
          <a:ext cx="8001000" cy="21336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330255408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3431246229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173909334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23529928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SPECIES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SEALS (n)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MEAN LENGTH (mm)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SD (mm)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37359791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Harp seal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80.6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10.8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18848343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Harbor seal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86.5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10.5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121469226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Ringed seal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79.6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10.9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289354513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Spotted seal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91.2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7.9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352587576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Gray seal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73.8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12.5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344972088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13812871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42641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spotted seal whiskers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14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Estimate μ, the mean whisker length of all spotted seals, from the 9 that were measured.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2860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pt-BR" sz="2000" b="1">
                <a:solidFill>
                  <a:srgbClr val="000000"/>
                </a:solidFill>
                <a:latin typeface="Calibri" panose="020F0502020204030204" pitchFamily="34" charset="0"/>
              </a:rPr>
              <a:t>n = 9;     x̄ = 91.2 mm;     s = 7.9 mm</a:t>
            </a:r>
            <a:endParaRPr lang="en-US" sz="2000" b="1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711510"/>
            <a:ext cx="10668000" cy="9746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z or t?  How many degrees of freedom?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What is the standard error?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(c)  What is the 95% confidence interval for μ?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3838536"/>
            <a:ext cx="10668000" cy="109805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(a)  t, because σ is unknown;   df = 9 − 1 = 8,   t = 2.306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(b)  7.9 / √9 ≈ 2.63 mm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(c)  91.2 ± 2.306(2.63) = 91.2 ± 6.06:   85.1 to 97.3 mm</a:t>
            </a:r>
          </a:p>
        </p:txBody>
      </p:sp>
    </p:spTree>
    <p:extLst>
      <p:ext uri="{BB962C8B-B14F-4D97-AF65-F5344CB8AC3E}">
        <p14:creationId xmlns:p14="http://schemas.microsoft.com/office/powerpoint/2010/main" val="2280179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Data: watermelon citrulline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15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Korea’s national gene bank keeps seed of 100 watermelon varieties from around the world.  Assefa et al. (2020) measured citrulline, the amino acid named after watermelon (Citrullus).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551331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X = citrulline in a variety’s fruit flesh, in mg per g of dry weight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5288241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A random sample of n = 12 of the 100 gene-bank varieties</a:t>
            </a:r>
          </a:p>
        </p:txBody>
      </p:sp>
      <p:graphicFrame>
        <p:nvGraphicFramePr>
          <p:cNvPr id="5" name="Data table">
            <a:extLst>
              <a:ext uri="{FF2B5EF4-FFF2-40B4-BE49-F238E27FC236}">
                <a16:creationId xmlns:a16="http://schemas.microsoft.com/office/drawing/2014/main" id="{107D57CA-D659-5E39-E6B7-B1821FDE19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3487696"/>
              </p:ext>
            </p:extLst>
          </p:nvPr>
        </p:nvGraphicFramePr>
        <p:xfrm>
          <a:off x="762000" y="3053041"/>
          <a:ext cx="6731000" cy="21336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330255408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3431246229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197166615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VARIETY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ORIGIN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CITRULLINE (mg/g)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37359791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IT120008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Taiwan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27.16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18848343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IT199814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Kazakhstan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25.83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121469226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IT203017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Russia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26.38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289354513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IT203029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Kazakhstan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24.01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352587576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IT203627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unknown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32.79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344972088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18816288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27078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citrulline, 90% and 99%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16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Estimate μ, the mean citrulline of all 100 gene-bank varieties, from the sample of 12.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2860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pt-BR" sz="2000" b="1">
                <a:solidFill>
                  <a:srgbClr val="000000"/>
                </a:solidFill>
                <a:latin typeface="Calibri" panose="020F0502020204030204" pitchFamily="34" charset="0"/>
              </a:rPr>
              <a:t>n = 12;     x̄ = 27.07 mg/g;     s = 5.27 mg/g</a:t>
            </a:r>
            <a:endParaRPr lang="en-US" sz="2000" b="1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711510"/>
            <a:ext cx="10668000" cy="9746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What are the degrees of freedom and the standard error?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What are the 90% and 99% confidence intervals for μ?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(c)  Which is wider, and why?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3838536"/>
            <a:ext cx="10668000" cy="141178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(a)  df = 11;    SE = 5.27 / √12 ≈ 1.52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(b)  90%:  27.07 ± 1.796(1.52):  24.34 to 29.80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      99%:  27.07 ± 3.106(1.52):  22.35 to 31.79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(c)  The 99% interval:  more confidence needs a larger t</a:t>
            </a:r>
          </a:p>
        </p:txBody>
      </p:sp>
    </p:spTree>
    <p:extLst>
      <p:ext uri="{BB962C8B-B14F-4D97-AF65-F5344CB8AC3E}">
        <p14:creationId xmlns:p14="http://schemas.microsoft.com/office/powerpoint/2010/main" val="369073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Choosing a sample size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17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margin of error 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the ± part of an interval:  m = z × SE,  so a larger n gives a smaller 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413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n for a proportion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0868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n = z² p*(1 − p*) / m²,  with p* = 0.5 if there is no earlier guess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031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n for a mean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9486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n = (z σ / m)²,  with σ from an earlier study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252B31-0A80-8297-9AB5-9AED735ACDE2}"/>
              </a:ext>
            </a:extLst>
          </p:cNvPr>
          <p:cNvSpPr txBox="1"/>
          <p:nvPr/>
        </p:nvSpPr>
        <p:spPr>
          <a:xfrm>
            <a:off x="762000" y="4464982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always round up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980B2D-2D53-A814-88AF-46C2FDF3E298}"/>
              </a:ext>
            </a:extLst>
          </p:cNvPr>
          <p:cNvSpPr txBox="1"/>
          <p:nvPr/>
        </p:nvSpPr>
        <p:spPr>
          <a:xfrm>
            <a:off x="1117600" y="4810422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n = 59.1 means 60:  rounding down misses the target m</a:t>
            </a:r>
          </a:p>
        </p:txBody>
      </p:sp>
    </p:spTree>
    <p:extLst>
      <p:ext uri="{BB962C8B-B14F-4D97-AF65-F5344CB8AC3E}">
        <p14:creationId xmlns:p14="http://schemas.microsoft.com/office/powerpoint/2010/main" val="1569739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4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2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planning the next study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18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Before collecting data, decide how many to measure so the 95% interval is as narrow as you need.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2860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carriers:  m = 0.03,  p* = 0.5;      whiskers:  m = 2 mm,  σ ≈ 7.9 mm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711510"/>
            <a:ext cx="10668000" cy="9746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How many people for the proportion of *2 carriers?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How many spotted seals for the mean whisker length?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(c)  What happens to n if we want half the margin of error?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3838536"/>
            <a:ext cx="10668000" cy="109805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(a)  1.96² (0.5)(0.5) / 0.03² = 1067.1   →   1,068 people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(b)  (1.96 × 7.9 / 2)² = 59.9   →   60 seals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(c)  4 times as large:  m is squared on the bottom</a:t>
            </a:r>
          </a:p>
        </p:txBody>
      </p:sp>
    </p:spTree>
    <p:extLst>
      <p:ext uri="{BB962C8B-B14F-4D97-AF65-F5344CB8AC3E}">
        <p14:creationId xmlns:p14="http://schemas.microsoft.com/office/powerpoint/2010/main" val="85355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What you should know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19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critical value z</a:t>
            </a:r>
            <a:r>
              <a:rPr lang="en-US" sz="1600" baseline="-25000">
                <a:solidFill>
                  <a:srgbClr val="000000"/>
                </a:solidFill>
              </a:rPr>
              <a:t>1−α/2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1.645, 1.960, 2.576 for 90%, 95%, 99%;  higher C → wider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413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l-GR" sz="1600">
                <a:solidFill>
                  <a:srgbClr val="000000"/>
                </a:solidFill>
              </a:rPr>
              <a:t>σ </a:t>
            </a:r>
            <a:r>
              <a:rPr lang="en-US" sz="1600">
                <a:solidFill>
                  <a:srgbClr val="000000"/>
                </a:solidFill>
              </a:rPr>
              <a:t>unknown</a:t>
            </a:r>
            <a:endParaRPr lang="en-US" sz="1600" baseline="-25000">
              <a:solidFill>
                <a:srgbClr val="0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0868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use s and t with df = n − 1:   x̄ ± t s / √n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031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width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9486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wider for higher confidence;  narrower for larger n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252B31-0A80-8297-9AB5-9AED735ACDE2}"/>
              </a:ext>
            </a:extLst>
          </p:cNvPr>
          <p:cNvSpPr txBox="1"/>
          <p:nvPr/>
        </p:nvSpPr>
        <p:spPr>
          <a:xfrm>
            <a:off x="762000" y="4464982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sample size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980B2D-2D53-A814-88AF-46C2FDF3E298}"/>
              </a:ext>
            </a:extLst>
          </p:cNvPr>
          <p:cNvSpPr txBox="1"/>
          <p:nvPr/>
        </p:nvSpPr>
        <p:spPr>
          <a:xfrm>
            <a:off x="1117600" y="4810422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n = z² p*(1 − p*) / m²  or  (z σ / m)²;  always round up</a:t>
            </a:r>
          </a:p>
        </p:txBody>
      </p:sp>
    </p:spTree>
    <p:extLst>
      <p:ext uri="{BB962C8B-B14F-4D97-AF65-F5344CB8AC3E}">
        <p14:creationId xmlns:p14="http://schemas.microsoft.com/office/powerpoint/2010/main" val="412465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4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2" grpId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4224</TotalTime>
  <Words>1914</Words>
  <Application>Microsoft Office PowerPoint</Application>
  <PresentationFormat>Widescreen</PresentationFormat>
  <Paragraphs>233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Lecture 21 t Intervals and Sample Size</vt:lpstr>
      <vt:lpstr>Would you board this plane?</vt:lpstr>
      <vt:lpstr>Review</vt:lpstr>
      <vt:lpstr>Data: a gene and a drug</vt:lpstr>
      <vt:lpstr>Example: carriers of CYP2C19*2</vt:lpstr>
      <vt:lpstr>Making an interval narrower</vt:lpstr>
      <vt:lpstr>What if σ is unknown?</vt:lpstr>
      <vt:lpstr>Does s in place of σ work?</vt:lpstr>
      <vt:lpstr>The t distribution</vt:lpstr>
      <vt:lpstr>t versus the standard normal</vt:lpstr>
      <vt:lpstr>Example: reading the t-table</vt:lpstr>
      <vt:lpstr>Which interval?</vt:lpstr>
      <vt:lpstr>Data: seal whiskers</vt:lpstr>
      <vt:lpstr>Example: spotted seal whiskers</vt:lpstr>
      <vt:lpstr>Data: watermelon citrulline</vt:lpstr>
      <vt:lpstr>Example: citrulline, 90% and 99%</vt:lpstr>
      <vt:lpstr>Choosing a sample size</vt:lpstr>
      <vt:lpstr>Example: planning the next study</vt:lpstr>
      <vt:lpstr>What you should know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Jarred Kvamme</dc:creator>
  <cp:lastModifiedBy>Jarred Kvamme</cp:lastModifiedBy>
  <cp:revision>434</cp:revision>
  <dcterms:created xsi:type="dcterms:W3CDTF">2023-08-05T23:57:41Z</dcterms:created>
  <dcterms:modified xsi:type="dcterms:W3CDTF">2026-10-23T18:13:59Z</dcterms:modified>
</cp:coreProperties>
</file>