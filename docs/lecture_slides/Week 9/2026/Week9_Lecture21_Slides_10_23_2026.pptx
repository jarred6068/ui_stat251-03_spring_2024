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437" r:id="rId3"/>
    <p:sldId id="436" r:id="rId4"/>
    <p:sldId id="441" r:id="rId5"/>
    <p:sldId id="442" r:id="rId6"/>
    <p:sldId id="443" r:id="rId7"/>
    <p:sldId id="444" r:id="rId8"/>
    <p:sldId id="445" r:id="rId9"/>
    <p:sldId id="446" r:id="rId10"/>
    <p:sldId id="447" r:id="rId11"/>
    <p:sldId id="448" r:id="rId12"/>
    <p:sldId id="449" r:id="rId13"/>
    <p:sldId id="450" r:id="rId14"/>
    <p:sldId id="451" r:id="rId15"/>
    <p:sldId id="452" r:id="rId16"/>
    <p:sldId id="453" r:id="rId17"/>
    <p:sldId id="455" r:id="rId18"/>
    <p:sldId id="456" r:id="rId19"/>
    <p:sldId id="45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21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t Intervals and Sample Size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Would you board this plane?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An airplane maker’s study of its new passenger jet estimates the probability of a catastrophic in-flight failure.  Your flight to the Bahamas is on one of these planes.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between 0.00012 and 0.0054 per flight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976841"/>
            <a:ext cx="10668000" cy="15799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(1)  Would you feel comfortable flying on this plane?  Why or why not?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(2)  If the maker could report this interval at 90%, 95% or 99% confidence,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      which would you want them to use?  Why?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(3)  Would you feel differently if the interval were narrower but had a lower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      confidence level?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709161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0.00012 is 1 failure in 8,300 flights;   0.0054 is 1 in 185 flights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Airliners today:  1 fatal accident per 5.6 million flights  (IATA, 2021–2025)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Even the best case is about 670 times riskier than a typical flight</a:t>
            </a:r>
          </a:p>
        </p:txBody>
      </p:sp>
    </p:spTree>
    <p:extLst>
      <p:ext uri="{BB962C8B-B14F-4D97-AF65-F5344CB8AC3E}">
        <p14:creationId xmlns:p14="http://schemas.microsoft.com/office/powerpoint/2010/main" val="2267001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   What does the confidence level C tell us?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share of all intervals built this way that capture the parameter:  90%, 95%, 99%.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   What is </a:t>
            </a:r>
            <a:r>
              <a:rPr lang="el-GR" b="1"/>
              <a:t>α?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error rate, the share of intervals that miss:  α = 1 − C.  At 95%, α = 0.05, so 0.025 in each tail.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   What is the critical value, and what does it do to the width?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z</a:t>
            </a:r>
            <a:r>
              <a:rPr lang="en-US" sz="1600" baseline="-25000">
                <a:solidFill>
                  <a:srgbClr val="C00000"/>
                </a:solidFill>
              </a:rPr>
              <a:t>1−α/2</a:t>
            </a:r>
            <a:r>
              <a:rPr lang="en-US" sz="1600">
                <a:solidFill>
                  <a:srgbClr val="C00000"/>
                </a:solidFill>
              </a:rPr>
              <a:t>, the number of SEs in estimate ± z × SE.  Higher C → bigger z → wider interval.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4158075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a gene and a drug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Clopidogrel (Plavix), a blood thinner used after heart attacks and stents, is switched on by the liver enzyme CYP2C19.  People with the CYP2C19*2 variant switch on less of it.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1 if a person carries at least one copy of *2, and 0 otherwise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288241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504 East Asian participants of the 1000 Genomes Project, which sequenced 2,504 people worldwide to catalog human genetic variation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81044"/>
              </p:ext>
            </p:extLst>
          </p:nvPr>
        </p:nvGraphicFramePr>
        <p:xfrm>
          <a:off x="762000" y="3053041"/>
          <a:ext cx="9017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392351544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68607093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565048366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PERSON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POPULATION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GENOTYPE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COPIES OF *2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X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HG00403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Southern Han Chinese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G/G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HG00404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Southern Han Chinese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A/A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HG00406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Southern Han Chinese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G/A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HG00407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Southern Han Chinese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G/G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HG00409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Southern Han Chinese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G/G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994042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9925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carriers of CYP2C19*2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Estimate p, the proportion of all individuals of East Asian descent who carry the *2 variant.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277 of n = 504 people are carriers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p̂? Is the check met? What is the standard error?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are the 90%, 95% and 99% confidence intervals for p?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Can we say more than half of people carry *2?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2039243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p̂ = 277 / 504 ≈ 0.550;    277 and 227 are both &gt; 5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SE = √(0.550 × 0.450 / 504) ≈ 0.022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90%:  0.550 ± 1.645(0.022):  0.514 to 0.586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95%:  0.550 ± 1.960(0.022):  0.507 to 0.593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99%:  0.550 ± 2.576(0.022):  0.493 to 0.607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At 90% and 95%, yes;  the 99% interval includes 0.5</a:t>
            </a:r>
          </a:p>
        </p:txBody>
      </p:sp>
    </p:spTree>
    <p:extLst>
      <p:ext uri="{BB962C8B-B14F-4D97-AF65-F5344CB8AC3E}">
        <p14:creationId xmlns:p14="http://schemas.microsoft.com/office/powerpoint/2010/main" val="184409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Making an interval narrower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carrier interval (p̂ = 0.550) at four confidence levels, and at 95% with 4 times fewer or more people.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happens to the width as C goes up?  As n goes up?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874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Higher C → wider.     4 times the n → half the width  (SE has √n on the bottom)</a:t>
            </a:r>
          </a:p>
        </p:txBody>
      </p:sp>
      <p:pic>
        <p:nvPicPr>
          <p:cNvPr id="7" name="l20_width.png">
            <a:extLst>
              <a:ext uri="{FF2B5EF4-FFF2-40B4-BE49-F238E27FC236}">
                <a16:creationId xmlns:a16="http://schemas.microsoft.com/office/drawing/2014/main" id="{23451720-5E0A-3C17-1245-844CB7EF6E7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06132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836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if σ is unknown?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Every interval for μ so far used σ, the population standard deviation.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± z </a:t>
            </a:r>
            <a:r>
              <a:rPr lang="el-GR" sz="2000" b="1">
                <a:solidFill>
                  <a:srgbClr val="000000"/>
                </a:solidFill>
                <a:latin typeface="Calibri" panose="020F0502020204030204" pitchFamily="34" charset="0"/>
              </a:rPr>
              <a:t>σ / √</a:t>
            </a: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n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If we don’t know μ, do we know σ?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could we use in its place?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Almost never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s, the sample standard deviation:   x̄ ± z s / √n.   Does that still work?</a:t>
            </a:r>
          </a:p>
        </p:txBody>
      </p:sp>
    </p:spTree>
    <p:extLst>
      <p:ext uri="{BB962C8B-B14F-4D97-AF65-F5344CB8AC3E}">
        <p14:creationId xmlns:p14="http://schemas.microsoft.com/office/powerpoint/2010/main" val="2692125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Does s in place of σ work?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Simulated:  100 samples of n = 5 whiskers from N(91, 8) mm;  each line is x̄ ± 1.96 s / √5.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A 95% method should miss about 5 times.  How many of these 100 miss μ?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874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12 of 100:  s changes from sample to sample, so the intervals are too narrow too often</a:t>
            </a:r>
          </a:p>
        </p:txBody>
      </p:sp>
      <p:pic>
        <p:nvPicPr>
          <p:cNvPr id="7" name="l20_s_coverage.png">
            <a:extLst>
              <a:ext uri="{FF2B5EF4-FFF2-40B4-BE49-F238E27FC236}">
                <a16:creationId xmlns:a16="http://schemas.microsoft.com/office/drawing/2014/main" id="{56E80C62-37D9-646C-E45C-217B469A121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706132"/>
            <a:ext cx="9652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92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t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bell curve like N(0, 1) but with heavier tails;  use it when s replaces σ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degrees of freedom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df = n − 1;  the more df, the closer t is to N(0, 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 critical value t</a:t>
            </a:r>
            <a:r>
              <a:rPr lang="en-US" sz="1600" baseline="-25000">
                <a:solidFill>
                  <a:srgbClr val="000000"/>
                </a:solidFill>
              </a:rPr>
              <a:t>n−1, 1−</a:t>
            </a:r>
            <a:r>
              <a:rPr lang="el-GR" sz="1600" baseline="-25000">
                <a:solidFill>
                  <a:srgbClr val="000000"/>
                </a:solidFill>
              </a:rPr>
              <a:t>α/2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from the t-table row for df = n − 1;  larger than z, so the interval is wider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342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 versus the standard normal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Density curves of t with 2, 5 and 30 degrees of freedom, and the standard normal N(0, 1).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Which curve has the heaviest tails?  What happens as df grows?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874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df = 2.   As df grows, t approaches N(0, 1);  by df = 30 they nearly match</a:t>
            </a:r>
          </a:p>
        </p:txBody>
      </p:sp>
      <p:pic>
        <p:nvPicPr>
          <p:cNvPr id="7" name="l20_t_vs_z.png">
            <a:extLst>
              <a:ext uri="{FF2B5EF4-FFF2-40B4-BE49-F238E27FC236}">
                <a16:creationId xmlns:a16="http://schemas.microsoft.com/office/drawing/2014/main" id="{7B66403A-08B4-5A35-6900-CD060D949E0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2706132"/>
            <a:ext cx="812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617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reading the t-table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In the course t-table, the row is df = n − 1 and the column is the confidence level.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95%, n = 10;     90%, n = 25;     99%, n = 10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the t critical value for each?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How does each compare with z for the same confidence level?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df = 9:  2.262          df = 24:  1.711          df = 9:  3.250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z = 1.960,  1.645,  2.576:   t is always larger</a:t>
            </a:r>
          </a:p>
        </p:txBody>
      </p:sp>
    </p:spTree>
    <p:extLst>
      <p:ext uri="{BB962C8B-B14F-4D97-AF65-F5344CB8AC3E}">
        <p14:creationId xmlns:p14="http://schemas.microsoft.com/office/powerpoint/2010/main" val="2363623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Which interval?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proportion 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p̂ ± z √(p̂(1 − p̂) / n),   when np̂ &gt; 5 and n(1 − p̂) &gt;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mean μ, σ known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x̄ ± z </a:t>
            </a:r>
            <a:r>
              <a:rPr lang="el-GR" sz="1600" b="1">
                <a:solidFill>
                  <a:srgbClr val="C00000"/>
                </a:solidFill>
              </a:rPr>
              <a:t>σ / √</a:t>
            </a:r>
            <a:r>
              <a:rPr lang="en-US" sz="1600" b="1">
                <a:solidFill>
                  <a:srgbClr val="C00000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mean μ, σ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x̄ ± t s / √n,   with df = n − 1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when the t interval works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population is roughly normal, or n ≥ 30</a:t>
            </a:r>
          </a:p>
        </p:txBody>
      </p:sp>
    </p:spTree>
    <p:extLst>
      <p:ext uri="{BB962C8B-B14F-4D97-AF65-F5344CB8AC3E}">
        <p14:creationId xmlns:p14="http://schemas.microsoft.com/office/powerpoint/2010/main" val="3339251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seal whiskers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Ginter et al. (2012) measured the longest undamaged whisker of 92 seals and sea lions from 11 species, to study how whisker shape evolved.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total length of a seal’s longest whisker, in mm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288241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One whisker per seal;  only each species’ n, mean and SD were published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637757"/>
              </p:ext>
            </p:extLst>
          </p:nvPr>
        </p:nvGraphicFramePr>
        <p:xfrm>
          <a:off x="762000" y="3053041"/>
          <a:ext cx="8001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1739093344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29928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SPECIES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SEALS (n)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MEAN LENGTH (mm)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SD (mm)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Harp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80.6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10.8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Harbor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86.5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10.5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Ringed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79.6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10.9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Spotted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91.2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7.9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Gray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73.8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12.5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381287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264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spotted seal whiskers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Estimate μ, the mean whisker length of all spotted seals, from the 9 that were measured.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n = 9;     x̄ = 91.2 mm;     s = 7.9 mm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z or t?  How many degrees of freedom?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the standard error?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the 95% confidence interval for μ?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t, because σ is unknown;   df = 9 − 1 = 8,   t = 2.306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7.9 / √9 ≈ 2.63 mm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91.2 ± 2.306(2.63) = 91.2 ± 6.06:   85.1 to 97.3 mm</a:t>
            </a:r>
          </a:p>
        </p:txBody>
      </p:sp>
    </p:spTree>
    <p:extLst>
      <p:ext uri="{BB962C8B-B14F-4D97-AF65-F5344CB8AC3E}">
        <p14:creationId xmlns:p14="http://schemas.microsoft.com/office/powerpoint/2010/main" val="2280179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watermelon citrulline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Korea’s national gene bank keeps seed of 100 watermelon varieties from around the world.  Assefa et al. (2020) measured citrulline, the amino acid named after watermelon (Citrullus).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citrulline in a variety’s fruit flesh, in mg per g of dry weight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288241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random sample of n = 12 of the 100 gene-bank varieties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487696"/>
              </p:ext>
            </p:extLst>
          </p:nvPr>
        </p:nvGraphicFramePr>
        <p:xfrm>
          <a:off x="762000" y="3053041"/>
          <a:ext cx="6731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197166615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VARIETY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ORIGIN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CITRULLINE (mg/g)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IT120008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Taiwan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27.16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IT199814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Kazakhstan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25.83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IT203017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Russia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26.38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IT203029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Kazakhstan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24.01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IT203627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unknown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32.79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16288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2707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citrulline, 90% and 99%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Estimate μ, the mean citrulline of all 100 gene-bank varieties, from the sample of 12.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n = 12;     x̄ = 27.07 mg/g;     s = 5.27 mg/g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are the degrees of freedom and the standard error?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are the 90% and 99% confidence intervals for μ?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Which is wider, and why?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41178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df = 11;    SE = 5.27 / √12 ≈ 1.52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90%:  27.07 ± 1.796(1.52):  24.34 to 29.80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99%:  27.07 ± 3.106(1.52):  22.35 to 31.79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The 99% interval:  more confidence needs a larger t</a:t>
            </a:r>
          </a:p>
        </p:txBody>
      </p:sp>
    </p:spTree>
    <p:extLst>
      <p:ext uri="{BB962C8B-B14F-4D97-AF65-F5344CB8AC3E}">
        <p14:creationId xmlns:p14="http://schemas.microsoft.com/office/powerpoint/2010/main" val="369073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Choosing a sample size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margin of error 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± part of an interval:  m = z × SE,  so a larger n gives a smaller 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 for a proportion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 = z² p*(1 − p*) / m²,  with p* = 0.5 if there is no earlier guess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 for a mean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 = (z σ / m)²,  with σ from an earlier study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always round up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 = 59.1 means 60:  rounding down misses the target m</a:t>
            </a:r>
          </a:p>
        </p:txBody>
      </p:sp>
    </p:spTree>
    <p:extLst>
      <p:ext uri="{BB962C8B-B14F-4D97-AF65-F5344CB8AC3E}">
        <p14:creationId xmlns:p14="http://schemas.microsoft.com/office/powerpoint/2010/main" val="1569739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planning the next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Before collecting data, decide how many to measure so the 95% interval is as narrow as you need.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carriers:  m = 0.03,  p* = 0.5;      whiskers:  m = 2 mm,  σ ≈ 7.9 mm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How many people for the proportion of *2 carriers?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How many spotted seals for the mean whisker length?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happens to n if we want half the margin of error?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1.96² (0.5)(0.5) / 0.03² = 1067.1   →   1,068 people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(1.96 × 7.9 / 2)² = 59.9   →   60 seals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4 times as large:  m is squared on the bottom</a:t>
            </a:r>
          </a:p>
        </p:txBody>
      </p:sp>
    </p:spTree>
    <p:extLst>
      <p:ext uri="{BB962C8B-B14F-4D97-AF65-F5344CB8AC3E}">
        <p14:creationId xmlns:p14="http://schemas.microsoft.com/office/powerpoint/2010/main" val="85355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critical value z</a:t>
            </a:r>
            <a:r>
              <a:rPr lang="en-US" sz="1600" baseline="-25000">
                <a:solidFill>
                  <a:srgbClr val="000000"/>
                </a:solidFill>
              </a:rPr>
              <a:t>1−α/2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1.645, 1.960, 2.576 for 90%, 95%, 99%;  higher C → wider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l-GR" sz="1600">
                <a:solidFill>
                  <a:srgbClr val="000000"/>
                </a:solidFill>
              </a:rPr>
              <a:t>σ </a:t>
            </a:r>
            <a:r>
              <a:rPr lang="en-US" sz="1600">
                <a:solidFill>
                  <a:srgbClr val="000000"/>
                </a:solidFill>
              </a:rPr>
              <a:t>unknown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use s and t with df = n − 1:   x̄ ± t s / √n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width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wider for higher confidence;  narrower for larger n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sample size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 = z² p*(1 − p*) / m²  or  (z σ / m)²;  always round up</a:t>
            </a:r>
          </a:p>
        </p:txBody>
      </p:sp>
    </p:spTree>
    <p:extLst>
      <p:ext uri="{BB962C8B-B14F-4D97-AF65-F5344CB8AC3E}">
        <p14:creationId xmlns:p14="http://schemas.microsoft.com/office/powerpoint/2010/main" val="412465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4222</TotalTime>
  <Words>1914</Words>
  <Application>Microsoft Office PowerPoint</Application>
  <PresentationFormat>Widescreen</PresentationFormat>
  <Paragraphs>233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Lecture 21 t Intervals and Sample Size</vt:lpstr>
      <vt:lpstr>Would you board this plane?</vt:lpstr>
      <vt:lpstr>Review</vt:lpstr>
      <vt:lpstr>Data: a gene and a drug</vt:lpstr>
      <vt:lpstr>Example: carriers of CYP2C19*2</vt:lpstr>
      <vt:lpstr>Making an interval narrower</vt:lpstr>
      <vt:lpstr>What if σ is unknown?</vt:lpstr>
      <vt:lpstr>Does s in place of σ work?</vt:lpstr>
      <vt:lpstr>The t distribution</vt:lpstr>
      <vt:lpstr>t versus the standard normal</vt:lpstr>
      <vt:lpstr>Example: reading the t-table</vt:lpstr>
      <vt:lpstr>Which interval?</vt:lpstr>
      <vt:lpstr>Data: seal whiskers</vt:lpstr>
      <vt:lpstr>Example: spotted seal whiskers</vt:lpstr>
      <vt:lpstr>Data: watermelon citrulline</vt:lpstr>
      <vt:lpstr>Example: citrulline, 90% and 99%</vt:lpstr>
      <vt:lpstr>Choosing a sample size</vt:lpstr>
      <vt:lpstr>Example: planning the next study</vt:lpstr>
      <vt:lpstr>What you should know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434</cp:revision>
  <dcterms:created xsi:type="dcterms:W3CDTF">2023-08-05T23:57:41Z</dcterms:created>
  <dcterms:modified xsi:type="dcterms:W3CDTF">2026-10-21T20:38:05Z</dcterms:modified>
</cp:coreProperties>
</file>