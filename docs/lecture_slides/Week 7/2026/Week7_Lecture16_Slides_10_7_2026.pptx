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257" r:id="rId3"/>
    <p:sldId id="380" r:id="rId4"/>
    <p:sldId id="381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38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Lecture 16</a:t>
            </a:r>
            <a:br>
              <a:rPr lang="en-US">
                <a:solidFill>
                  <a:srgbClr val="1F3864"/>
                </a:solidFill>
              </a:rPr>
            </a:br>
            <a:r>
              <a:rPr lang="en-US">
                <a:solidFill>
                  <a:srgbClr val="1F3864"/>
                </a:solidFill>
              </a:rPr>
              <a:t>Discrete and Continuous Probability Distributions</a:t>
            </a:r>
            <a:endParaRPr lang="en-US" dirty="0">
              <a:solidFill>
                <a:srgbClr val="1F386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7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104"/>
          </a:xfrm>
        </p:spPr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Review</a:t>
            </a:r>
            <a:endParaRPr lang="en-US" dirty="0">
              <a:solidFill>
                <a:srgbClr val="1F3864"/>
              </a:solidFill>
            </a:endParaRP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1   </a:t>
            </a:r>
            <a:r>
              <a:rPr lang="en-US" b="1"/>
              <a:t>What are independent events?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65024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Events where one occurring does not change the probability of the other.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2   </a:t>
            </a:r>
            <a:r>
              <a:rPr lang="en-US" b="1"/>
              <a:t>What is a random variable?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outcome of a random trial recorded as a number.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3   </a:t>
            </a:r>
            <a:r>
              <a:rPr lang="en-US" b="1"/>
              <a:t>What is a discrete random variable?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One whose possible values can be listed, like the number of heads in 3 tosses.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</a:rPr>
              <a:t>4   </a:t>
            </a:r>
            <a:r>
              <a:rPr lang="en-US" b="1"/>
              <a:t>What is a probability distribution?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89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 function giving each value of X a probability between 0 and 1; they add to 1.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6091C9-B7EB-6BBE-A602-1479CDF97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</a:t>
            </a:fld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83285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mean of a random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3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expected value  </a:t>
            </a:r>
            <a:r>
              <a:rPr lang="el-GR" sz="1600">
                <a:solidFill>
                  <a:srgbClr val="000000"/>
                </a:solidFill>
              </a:rPr>
              <a:t>μ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long-run average of X:   μ = Σ x · P(x)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667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variance  </a:t>
            </a:r>
            <a:r>
              <a:rPr lang="el-GR" sz="1600">
                <a:solidFill>
                  <a:srgbClr val="000000"/>
                </a:solidFill>
              </a:rPr>
              <a:t>σ²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1122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σ² = Σ (x − μ)² · P(x),  and the standard deviation is σ = √σ²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539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three coin tosses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994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μ = 0(1/8) + 1(3/8) + 2(3/8) + 3(1/8) = 1.5 heads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705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grade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4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STAT 251 exam grade on the 4-point scale, for a student chosen at random: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349504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P(better than a C)?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the mean grade, μ?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29401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(a)  P(X = 3) + P(X = 4) = 0.25 + 0.30 = 0.55</a:t>
            </a:r>
          </a:p>
          <a:p>
            <a:r>
              <a:rPr lang="pt-BR" sz="2000" b="1">
                <a:solidFill>
                  <a:srgbClr val="C00000"/>
                </a:solidFill>
                <a:latin typeface="Calibri" panose="020F0502020204030204" pitchFamily="34" charset="0"/>
              </a:rPr>
              <a:t>(b)  </a:t>
            </a:r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μ = 0(0.05) + 1(0.10) + 2(0.30) + 3(0.25) + 4(0.30) = 2.65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6" name="Counts">
            <a:extLst>
              <a:ext uri="{FF2B5EF4-FFF2-40B4-BE49-F238E27FC236}">
                <a16:creationId xmlns:a16="http://schemas.microsoft.com/office/drawing/2014/main" id="{A994090D-E39B-DE13-66B8-AFE83B8C7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79549"/>
              </p:ext>
            </p:extLst>
          </p:nvPr>
        </p:nvGraphicFramePr>
        <p:xfrm>
          <a:off x="762000" y="2362200"/>
          <a:ext cx="7620000" cy="10058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47885224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44162130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92421866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7952741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4903164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202156313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7197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996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sz="1600" b="1">
                          <a:latin typeface="Calibri" panose="020F0502020204030204" pitchFamily="34" charset="0"/>
                        </a:rPr>
                        <a:t>P(x)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Calibri" panose="020F0502020204030204" pitchFamily="34" charset="0"/>
                        </a:rPr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546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79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Bernoulli trials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5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Bernoulli trial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one trial with two outcomes: success (X = 1) with probability p, failure (X = 0) with probability 1 − 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X ~ Bernoulli(p)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its single parameter p is the probability of success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mean and variance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μ = p     and     σ² = p(1 − p)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2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guessing one 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You guess on a multiple-choice question with 4 options, one of them correct.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1 if the guess is right, X = 0 if not;     p = 1/4 = 0.25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6719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= 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are μ and σ²?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535889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(a)  1 − 0.25 = 0.75</a:t>
            </a:r>
          </a:p>
          <a:p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(b)  μ = 0.25,     σ² = 0.25 × 0.75 = 0.1875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78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binomial setting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 fixed number of trials  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trial is repeated a set number of times, decided in advance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two outcomes, the same  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each trial is a success or a failure, with the same probability of success p every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independent trials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outcome of one trial does not change the probability of success on any other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7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binomial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8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X ~ Binom(n, p)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 = the number of successes in n independent trials, each with probability of success 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P(X = 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n! / (k!(n − k)!)  ·  p</a:t>
            </a:r>
            <a:r>
              <a:rPr lang="en-US" sz="1600" b="1" baseline="30000">
                <a:solidFill>
                  <a:srgbClr val="C00000"/>
                </a:solidFill>
              </a:rPr>
              <a:t>k</a:t>
            </a:r>
            <a:r>
              <a:rPr lang="en-US" sz="1600" b="1">
                <a:solidFill>
                  <a:srgbClr val="C00000"/>
                </a:solidFill>
              </a:rPr>
              <a:t>  ·  (1 − p)</a:t>
            </a:r>
            <a:r>
              <a:rPr lang="en-US" sz="1600" b="1" baseline="30000">
                <a:solidFill>
                  <a:srgbClr val="C00000"/>
                </a:solidFill>
              </a:rPr>
              <a:t>n−k</a:t>
            </a:r>
            <a:r>
              <a:rPr lang="en-US" sz="1600" b="1">
                <a:solidFill>
                  <a:srgbClr val="C00000"/>
                </a:solidFill>
              </a:rPr>
              <a:t>:   the first factor counts the ways to arrange k successes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mean and variance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pl-PL" sz="1600" b="1">
                <a:solidFill>
                  <a:srgbClr val="C00000"/>
                </a:solidFill>
              </a:rPr>
              <a:t>μ = np     and     σ² = np(1 − p)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5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counting vs. the formula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Monday: X = the number of heads in 3 tosses of a fair coin, counted straight from the sample space.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S = {HHH, HHT, HTH, THH, HTT, THT, TTH, TTT};     X ~ Binom(n = 3, p = 0.5)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From S, what are P(X = 3) and P(X = 2)?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Use the formula to find P(X = 3) and P(X = 2).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does 3! / (2! 1!) count?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1/8  (HHH)   and   3/8  (HHT, HTH, THH)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3!/(3! 0!) · 0.5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3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· 0.5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1/8     3!/(2! 1!) · 0.5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2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· 0.5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1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3/8:  the same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the 3 orders with 2 heads:  HHT, HTH, THH</a:t>
            </a:r>
          </a:p>
        </p:txBody>
      </p:sp>
    </p:spTree>
    <p:extLst>
      <p:ext uri="{BB962C8B-B14F-4D97-AF65-F5344CB8AC3E}">
        <p14:creationId xmlns:p14="http://schemas.microsoft.com/office/powerpoint/2010/main" val="104084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guessing a whole quiz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10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You guess on all 10 questions of a 4-option multiple-choice quiz.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~ Binom(n = 10, p = 0.25)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= 3)?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P(X = 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are μ and σ?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10!/(3! 7!) · 0.25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3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· 0.75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7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= 120 × 0.0156 × 0.1335 ≈ 0.250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0.75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10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≈ 0.056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</a:t>
            </a:r>
            <a:r>
              <a:rPr lang="el-GR" sz="2000" b="1">
                <a:solidFill>
                  <a:srgbClr val="C00000"/>
                </a:solidFill>
                <a:latin typeface="Calibri" panose="020F0502020204030204" pitchFamily="34" charset="0"/>
              </a:rPr>
              <a:t>μ = 10 × 0.25 = 2.5,     σ = √(10 × 0.25 × 0.75) ≈ 1.37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84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shape of a binomial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X ~ Binom(n = 10, p) for three values of p.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What does p do to the shape?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385832"/>
            <a:ext cx="10668000" cy="78432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p = 0.5: symmetric.     p &lt; 0.5: skewed right.     p &gt; 0.5: skewed left.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The center sits at μ = np:  2, 5 and 8</a:t>
            </a:r>
          </a:p>
        </p:txBody>
      </p:sp>
      <p:pic>
        <p:nvPicPr>
          <p:cNvPr id="6" name="l15_binomial_shapes.png">
            <a:extLst>
              <a:ext uri="{FF2B5EF4-FFF2-40B4-BE49-F238E27FC236}">
                <a16:creationId xmlns:a16="http://schemas.microsoft.com/office/drawing/2014/main" id="{76CDE7A7-5275-83FC-55CD-18424E3824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706132"/>
            <a:ext cx="10668000" cy="260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85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free throws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12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Stephen Curry has made 4,236 of the 4,645 free throws he has attempted in the NBA.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p = 4,236 / 4,645 ≈ 0.912;     he shoots n = 10;     X = free throws made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P(he makes all 10)?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P(he misses at least one)?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How many does he make, on average?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pl-PL" sz="2000" b="1">
                <a:solidFill>
                  <a:srgbClr val="C00000"/>
                </a:solidFill>
                <a:latin typeface="Calibri" panose="020F0502020204030204" pitchFamily="34" charset="0"/>
              </a:rPr>
              <a:t>(a)  0.912</a:t>
            </a:r>
            <a:r>
              <a:rPr lang="pl-PL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10</a:t>
            </a:r>
            <a:r>
              <a:rPr lang="pl-PL" sz="2000" b="1">
                <a:solidFill>
                  <a:srgbClr val="C00000"/>
                </a:solidFill>
                <a:latin typeface="Calibri" panose="020F0502020204030204" pitchFamily="34" charset="0"/>
              </a:rPr>
              <a:t> ≈ 0.40</a:t>
            </a:r>
          </a:p>
          <a:p>
            <a:r>
              <a:rPr lang="pl-PL" sz="2000" b="1">
                <a:solidFill>
                  <a:srgbClr val="C00000"/>
                </a:solidFill>
                <a:latin typeface="Calibri" panose="020F0502020204030204" pitchFamily="34" charset="0"/>
              </a:rPr>
              <a:t>(b)  1 − 0.40 = 0.60</a:t>
            </a:r>
          </a:p>
          <a:p>
            <a:r>
              <a:rPr lang="pl-PL" sz="2000" b="1">
                <a:solidFill>
                  <a:srgbClr val="C00000"/>
                </a:solidFill>
                <a:latin typeface="Calibri" panose="020F0502020204030204" pitchFamily="34" charset="0"/>
              </a:rPr>
              <a:t>(c)  μ = np = 10 × 0.912 ≈ 9.1</a:t>
            </a:r>
            <a:endParaRPr lang="en-US" sz="2000" b="1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9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Is it binomial?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13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For each X, check the three conditions:  fixed n,  the same p,  independent trials.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X = the number of heads in 20 flips of a coin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X = the number of aces in a 5-card hand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X = the number of rolls of a die until the first six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41302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Yes:  n = 20,  p = 0.5,  and the flips are independent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No:  the cards are dealt without replacement, so the draws are not independent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No:  the number of trials n is not fixed</a:t>
            </a:r>
          </a:p>
        </p:txBody>
      </p:sp>
    </p:spTree>
    <p:extLst>
      <p:ext uri="{BB962C8B-B14F-4D97-AF65-F5344CB8AC3E}">
        <p14:creationId xmlns:p14="http://schemas.microsoft.com/office/powerpoint/2010/main" val="416657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The Poisson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14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X ~ Poisson(</a:t>
            </a:r>
            <a:r>
              <a:rPr lang="el-GR" sz="1600">
                <a:solidFill>
                  <a:srgbClr val="000000"/>
                </a:solidFill>
              </a:rPr>
              <a:t>λ)</a:t>
            </a: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X = the number of events in a fixed interval of time or space, when events occur independently at an average rate 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P(X = 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l-GR" sz="1600" b="1">
                <a:solidFill>
                  <a:srgbClr val="C00000"/>
                </a:solidFill>
              </a:rPr>
              <a:t>λ</a:t>
            </a:r>
            <a:r>
              <a:rPr lang="en-US" sz="1600" b="1" baseline="30000">
                <a:solidFill>
                  <a:srgbClr val="C00000"/>
                </a:solidFill>
              </a:rPr>
              <a:t>k</a:t>
            </a:r>
            <a:r>
              <a:rPr lang="en-US" sz="1600" b="1">
                <a:solidFill>
                  <a:srgbClr val="C00000"/>
                </a:solidFill>
              </a:rPr>
              <a:t> e</a:t>
            </a:r>
            <a:r>
              <a:rPr lang="en-US" sz="1600" b="1" baseline="30000">
                <a:solidFill>
                  <a:srgbClr val="C00000"/>
                </a:solidFill>
              </a:rPr>
              <a:t>−</a:t>
            </a:r>
            <a:r>
              <a:rPr lang="el-GR" sz="1600" b="1" baseline="30000">
                <a:solidFill>
                  <a:srgbClr val="C00000"/>
                </a:solidFill>
              </a:rPr>
              <a:t>λ</a:t>
            </a:r>
            <a:r>
              <a:rPr lang="el-GR" sz="1600" b="1">
                <a:solidFill>
                  <a:srgbClr val="C00000"/>
                </a:solidFill>
              </a:rPr>
              <a:t> / </a:t>
            </a:r>
            <a:r>
              <a:rPr lang="en-US" sz="1600" b="1">
                <a:solidFill>
                  <a:srgbClr val="C00000"/>
                </a:solidFill>
              </a:rPr>
              <a:t>k!,     k = 0, 1, 2, …     (e ≈ 2.718)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mean and variance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l-GR" sz="1600" b="1">
                <a:solidFill>
                  <a:srgbClr val="C00000"/>
                </a:solidFill>
              </a:rPr>
              <a:t>μ = λ     and     σ² = λ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World Cup goals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15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2022 FIFA World Cup had 172 goals in 64 matches.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λ = 172 / 64 ≈ 2.69 goals per match;     X = goals in one match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= 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How many of the 64 matches does the model expect to end 0–0?  (There were 7.)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λ for one 45-minute half, and P(no goals in a half)?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e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−2.69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≈ 0.068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64 × 0.068 ≈ 4.4:  close, but a model is never a perfect fit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λ = 2.69 / 2 ≈ 1.34,     P(X = 0) = e</a:t>
            </a:r>
            <a:r>
              <a:rPr lang="en-US" sz="2000" b="1" baseline="30000">
                <a:solidFill>
                  <a:srgbClr val="C00000"/>
                </a:solidFill>
                <a:latin typeface="Calibri" panose="020F0502020204030204" pitchFamily="34" charset="0"/>
              </a:rPr>
              <a:t>−1.34</a:t>
            </a:r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 ≈ 0.26</a:t>
            </a:r>
          </a:p>
        </p:txBody>
      </p:sp>
    </p:spTree>
    <p:extLst>
      <p:ext uri="{BB962C8B-B14F-4D97-AF65-F5344CB8AC3E}">
        <p14:creationId xmlns:p14="http://schemas.microsoft.com/office/powerpoint/2010/main" val="195428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Goals per match: the Poisson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16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X ~ Poisson(λ = 2.69): the probability of each number of goals in a match.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2860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Which number of goals is most likely? Is the distribution symmetric?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639832"/>
            <a:ext cx="10668000" cy="470595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Two goals (0.25), then three (0.22);  skewed right:  X cannot go below 0 but has no upper limit</a:t>
            </a:r>
          </a:p>
        </p:txBody>
      </p:sp>
      <p:pic>
        <p:nvPicPr>
          <p:cNvPr id="6" name="l15_poisson_goals.png">
            <a:extLst>
              <a:ext uri="{FF2B5EF4-FFF2-40B4-BE49-F238E27FC236}">
                <a16:creationId xmlns:a16="http://schemas.microsoft.com/office/drawing/2014/main" id="{AC90B376-2A68-DB13-3770-4696990C57A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2706132"/>
            <a:ext cx="81280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50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Continuous random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17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density curve  f(x)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curve for a continuous X:  it never goes below 0, and the total area under it is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probability is area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P(a &lt; X &lt; b) is the area under the curve between a and b;  the height is not a probability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P(X = c) =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a single value has no width, so P(X &lt; c) = P(X ≤ c)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2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waiting for the shuttle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18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A campus shuttle comes every 20 minutes, and you arrive at a random time.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= your wait in minutes:   f(x) = 1/20  for  0 ≤ x ≤ 20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813110"/>
            <a:ext cx="5461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&lt; 5)?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P(4 &lt; X &lt; 15)?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P(X = 15)?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5035610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5 × 1/20 = 0.25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(15 − 4) × 1/20 = 0.55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0:  a single point has no width</a:t>
            </a:r>
          </a:p>
        </p:txBody>
      </p:sp>
      <p:pic>
        <p:nvPicPr>
          <p:cNvPr id="6" name="l16_uniform_wait.png">
            <a:extLst>
              <a:ext uri="{FF2B5EF4-FFF2-40B4-BE49-F238E27FC236}">
                <a16:creationId xmlns:a16="http://schemas.microsoft.com/office/drawing/2014/main" id="{99F6A862-7AEA-085B-FEE9-523A534A0BA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2711510"/>
            <a:ext cx="5080000" cy="22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49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a triangle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19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The density of W rises in a straight line to 0.4 at w = 2, then falls to 0 at w = 5.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387600"/>
            <a:ext cx="5461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Is the total area 1?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P(W ≤ 1)?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P(W &gt; 2)?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4927600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½ × 5 × 0.4 = 1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½ × 1 × 0.2 = 0.1   (the height at w = 1 is 0.2)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½ × 3 × 0.4 = 0.6</a:t>
            </a:r>
          </a:p>
        </p:txBody>
      </p:sp>
      <p:pic>
        <p:nvPicPr>
          <p:cNvPr id="6" name="l16_triangle.png">
            <a:extLst>
              <a:ext uri="{FF2B5EF4-FFF2-40B4-BE49-F238E27FC236}">
                <a16:creationId xmlns:a16="http://schemas.microsoft.com/office/drawing/2014/main" id="{7A4140BE-2DEB-3085-AFFD-5246C457041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2286000"/>
            <a:ext cx="508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88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Cumulative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20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P(X ≤ x)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the area to the left of x:  what the z-table and pnorm give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area to the right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P(X &gt; x) = 1 − P(X ≤ 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area between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P(a &lt; X &lt; b) = P(X ≤ b) − P(X ≤ a)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79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30B1-1864-30EF-7EAB-9BEE656C0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Example: area between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75068-D051-44AE-498E-1BEBEDE3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21</a:t>
            </a:fld>
            <a:endParaRPr lang="en-US" sz="1600"/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30656AA8-9645-F028-C769-A313710853CC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xt">
            <a:extLst>
              <a:ext uri="{FF2B5EF4-FFF2-40B4-BE49-F238E27FC236}">
                <a16:creationId xmlns:a16="http://schemas.microsoft.com/office/drawing/2014/main" id="{71E3EA8C-31B4-DAD4-BC4A-65D72E59AD46}"/>
              </a:ext>
            </a:extLst>
          </p:cNvPr>
          <p:cNvSpPr txBox="1"/>
          <p:nvPr/>
        </p:nvSpPr>
        <p:spPr>
          <a:xfrm>
            <a:off x="762000" y="1879600"/>
            <a:ext cx="10668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>
                <a:solidFill>
                  <a:srgbClr val="000000"/>
                </a:solidFill>
                <a:latin typeface="Calibri" panose="020F0502020204030204" pitchFamily="34" charset="0"/>
              </a:rPr>
              <a:t>X = the height of a woman in the student heights data, modeled as normal.</a:t>
            </a:r>
          </a:p>
        </p:txBody>
      </p:sp>
      <p:sp>
        <p:nvSpPr>
          <p:cNvPr id="9" name="Numbers">
            <a:extLst>
              <a:ext uri="{FF2B5EF4-FFF2-40B4-BE49-F238E27FC236}">
                <a16:creationId xmlns:a16="http://schemas.microsoft.com/office/drawing/2014/main" id="{C419F151-05B2-3E4B-BAE8-BB1F06D9D1FD}"/>
              </a:ext>
            </a:extLst>
          </p:cNvPr>
          <p:cNvSpPr txBox="1"/>
          <p:nvPr/>
        </p:nvSpPr>
        <p:spPr>
          <a:xfrm>
            <a:off x="762000" y="2286000"/>
            <a:ext cx="10668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sz="2000" b="1">
                <a:solidFill>
                  <a:srgbClr val="000000"/>
                </a:solidFill>
                <a:latin typeface="Calibri" panose="020F0502020204030204" pitchFamily="34" charset="0"/>
              </a:rPr>
              <a:t>X ~ N(65.4, 3.38);     Week 6:  P(X &lt; 70) = 0.9131</a:t>
            </a:r>
          </a:p>
        </p:txBody>
      </p:sp>
      <p:sp>
        <p:nvSpPr>
          <p:cNvPr id="10" name="Question">
            <a:extLst>
              <a:ext uri="{FF2B5EF4-FFF2-40B4-BE49-F238E27FC236}">
                <a16:creationId xmlns:a16="http://schemas.microsoft.com/office/drawing/2014/main" id="{B31E395F-B84E-D1E9-D22A-222467FC4105}"/>
              </a:ext>
            </a:extLst>
          </p:cNvPr>
          <p:cNvSpPr txBox="1"/>
          <p:nvPr/>
        </p:nvSpPr>
        <p:spPr>
          <a:xfrm>
            <a:off x="762000" y="2711510"/>
            <a:ext cx="10668000" cy="9746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(a)  What is P(X &gt; 70)?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(b)  What is P(X &lt; 62)?</a:t>
            </a:r>
          </a:p>
          <a:p>
            <a:pPr>
              <a:spcAft>
                <a:spcPts val="200"/>
              </a:spcAft>
            </a:pPr>
            <a:r>
              <a:rPr lang="en-US" b="1">
                <a:solidFill>
                  <a:srgbClr val="C00000"/>
                </a:solidFill>
                <a:latin typeface="Calibri" panose="020F0502020204030204" pitchFamily="34" charset="0"/>
              </a:rPr>
              <a:t>(c)  What is P(62 &lt; X &lt; 70)?</a:t>
            </a:r>
          </a:p>
        </p:txBody>
      </p:sp>
      <p:sp>
        <p:nvSpPr>
          <p:cNvPr id="11" name="Result">
            <a:extLst>
              <a:ext uri="{FF2B5EF4-FFF2-40B4-BE49-F238E27FC236}">
                <a16:creationId xmlns:a16="http://schemas.microsoft.com/office/drawing/2014/main" id="{5A70F68E-0D93-07B8-82B2-4D8F2F681D0D}"/>
              </a:ext>
            </a:extLst>
          </p:cNvPr>
          <p:cNvSpPr/>
          <p:nvPr/>
        </p:nvSpPr>
        <p:spPr>
          <a:xfrm>
            <a:off x="762000" y="3838536"/>
            <a:ext cx="10668000" cy="1098054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5875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76200" rIns="152400" bIns="76200" rtlCol="0" anchor="ctr">
            <a:spAutoFit/>
          </a:bodyPr>
          <a:lstStyle/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(a)  1 − 0.9131 = 0.0869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(b)  z = (62 − 65.4) / 3.38 = −1.01:   table gives 0.1562</a:t>
            </a:r>
          </a:p>
          <a:p>
            <a:r>
              <a:rPr lang="en-US" sz="2000" b="1">
                <a:solidFill>
                  <a:srgbClr val="C00000"/>
                </a:solidFill>
                <a:latin typeface="Calibri" panose="020F0502020204030204" pitchFamily="34" charset="0"/>
              </a:rPr>
              <a:t>(c)  0.9131 − 0.1562 = 0.7569 ≈ 0.76</a:t>
            </a:r>
          </a:p>
        </p:txBody>
      </p:sp>
    </p:spTree>
    <p:extLst>
      <p:ext uri="{BB962C8B-B14F-4D97-AF65-F5344CB8AC3E}">
        <p14:creationId xmlns:p14="http://schemas.microsoft.com/office/powerpoint/2010/main" val="144961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7AB41-6AD1-9EF2-7F95-46A90439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solidFill>
                  <a:srgbClr val="1F3864"/>
                </a:solidFill>
              </a:rPr>
              <a:t>What you should know: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44AE5-98B5-B840-6B8A-D345C7C2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z="1600" smtClean="0"/>
              <a:t>22</a:t>
            </a:fld>
            <a:endParaRPr lang="en-US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AAE17-27CE-D7A3-C663-11BB48ACBF5B}"/>
              </a:ext>
            </a:extLst>
          </p:cNvPr>
          <p:cNvSpPr txBox="1"/>
          <p:nvPr/>
        </p:nvSpPr>
        <p:spPr>
          <a:xfrm>
            <a:off x="762000" y="1879600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expected 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0A0F8-5E1E-9A1D-B64C-50827EE6C9B2}"/>
              </a:ext>
            </a:extLst>
          </p:cNvPr>
          <p:cNvSpPr txBox="1"/>
          <p:nvPr/>
        </p:nvSpPr>
        <p:spPr>
          <a:xfrm>
            <a:off x="1117600" y="2225040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μ = Σ x P(x):  the long-run average of 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D3CD95-D52E-5227-B663-7C0A72677B6E}"/>
              </a:ext>
            </a:extLst>
          </p:cNvPr>
          <p:cNvSpPr txBox="1"/>
          <p:nvPr/>
        </p:nvSpPr>
        <p:spPr>
          <a:xfrm>
            <a:off x="762000" y="2741394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binomial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3E601-601D-C6B1-8265-C079CB8C9269}"/>
              </a:ext>
            </a:extLst>
          </p:cNvPr>
          <p:cNvSpPr txBox="1"/>
          <p:nvPr/>
        </p:nvSpPr>
        <p:spPr>
          <a:xfrm>
            <a:off x="1117600" y="3086834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successes in n independent trials with the same p:   μ = np,   σ² = np(1 − p);   Bernoulli is n =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002BF4-8037-2F73-E27A-7A453477E389}"/>
              </a:ext>
            </a:extLst>
          </p:cNvPr>
          <p:cNvSpPr txBox="1"/>
          <p:nvPr/>
        </p:nvSpPr>
        <p:spPr>
          <a:xfrm>
            <a:off x="762000" y="3603188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Poisson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F3B3E3-D27C-E008-C93E-ED70BD2A4754}"/>
              </a:ext>
            </a:extLst>
          </p:cNvPr>
          <p:cNvSpPr txBox="1"/>
          <p:nvPr/>
        </p:nvSpPr>
        <p:spPr>
          <a:xfrm>
            <a:off x="1117600" y="3948628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events in a fixed interval at an average rate λ:   μ = σ² = λ</a:t>
            </a:r>
          </a:p>
        </p:txBody>
      </p:sp>
      <p:sp>
        <p:nvSpPr>
          <p:cNvPr id="3" name="Title rule">
            <a:extLst>
              <a:ext uri="{FF2B5EF4-FFF2-40B4-BE49-F238E27FC236}">
                <a16:creationId xmlns:a16="http://schemas.microsoft.com/office/drawing/2014/main" id="{B469CAAB-2B69-6863-7C28-0C5959E5734B}"/>
              </a:ext>
            </a:extLst>
          </p:cNvPr>
          <p:cNvSpPr/>
          <p:nvPr/>
        </p:nvSpPr>
        <p:spPr>
          <a:xfrm>
            <a:off x="838200" y="1600200"/>
            <a:ext cx="10515600" cy="381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252B31-0A80-8297-9AB5-9AED735ACDE2}"/>
              </a:ext>
            </a:extLst>
          </p:cNvPr>
          <p:cNvSpPr txBox="1"/>
          <p:nvPr/>
        </p:nvSpPr>
        <p:spPr>
          <a:xfrm>
            <a:off x="762000" y="4464982"/>
            <a:ext cx="10668000" cy="3454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04800" indent="-304800"/>
            <a:r>
              <a:rPr lang="en-US" sz="1600">
                <a:solidFill>
                  <a:srgbClr val="000000"/>
                </a:solidFill>
              </a:rPr>
              <a:t>continuous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980B2D-2D53-A814-88AF-46C2FDF3E298}"/>
              </a:ext>
            </a:extLst>
          </p:cNvPr>
          <p:cNvSpPr txBox="1"/>
          <p:nvPr/>
        </p:nvSpPr>
        <p:spPr>
          <a:xfrm>
            <a:off x="1117600" y="4810422"/>
            <a:ext cx="10312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C00000"/>
                </a:solidFill>
              </a:rPr>
              <a:t>probability is area under the density curve;   P(X = c) = 0;   P(a &lt; X &lt; b) = P(X ≤ b) − P(X ≤ a)</a:t>
            </a:r>
          </a:p>
        </p:txBody>
      </p:sp>
    </p:spTree>
    <p:extLst>
      <p:ext uri="{BB962C8B-B14F-4D97-AF65-F5344CB8AC3E}">
        <p14:creationId xmlns:p14="http://schemas.microsoft.com/office/powerpoint/2010/main" val="3324539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5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4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3981</TotalTime>
  <Words>2000</Words>
  <Application>Microsoft Office PowerPoint</Application>
  <PresentationFormat>Widescreen</PresentationFormat>
  <Paragraphs>199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Lecture 16 Discrete and Continuous Probability Distributions</vt:lpstr>
      <vt:lpstr>Review</vt:lpstr>
      <vt:lpstr>The mean of a random variable</vt:lpstr>
      <vt:lpstr>Example: grade points</vt:lpstr>
      <vt:lpstr>Bernoulli trials</vt:lpstr>
      <vt:lpstr>Example: guessing one question</vt:lpstr>
      <vt:lpstr>The binomial setting</vt:lpstr>
      <vt:lpstr>The binomial distribution</vt:lpstr>
      <vt:lpstr>Example: counting vs. the formula</vt:lpstr>
      <vt:lpstr>Example: guessing a whole quiz</vt:lpstr>
      <vt:lpstr>The shape of a binomial distribution</vt:lpstr>
      <vt:lpstr>Example: free throws</vt:lpstr>
      <vt:lpstr>Is it binomial?</vt:lpstr>
      <vt:lpstr>The Poisson distribution</vt:lpstr>
      <vt:lpstr>Example: World Cup goals</vt:lpstr>
      <vt:lpstr>Goals per match: the Poisson model</vt:lpstr>
      <vt:lpstr>Continuous random variables</vt:lpstr>
      <vt:lpstr>Example: waiting for the shuttle</vt:lpstr>
      <vt:lpstr>Example: a triangle</vt:lpstr>
      <vt:lpstr>Cumulative probability</vt:lpstr>
      <vt:lpstr>Example: area between</vt:lpstr>
      <vt:lpstr>What you should know: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414</cp:revision>
  <dcterms:created xsi:type="dcterms:W3CDTF">2023-08-05T23:57:41Z</dcterms:created>
  <dcterms:modified xsi:type="dcterms:W3CDTF">2026-10-07T18:45:53Z</dcterms:modified>
</cp:coreProperties>
</file>