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257" r:id="rId3"/>
    <p:sldId id="380" r:id="rId4"/>
    <p:sldId id="381" r:id="rId5"/>
    <p:sldId id="390" r:id="rId6"/>
    <p:sldId id="391" r:id="rId7"/>
    <p:sldId id="392" r:id="rId8"/>
    <p:sldId id="393" r:id="rId9"/>
    <p:sldId id="394" r:id="rId10"/>
    <p:sldId id="395" r:id="rId11"/>
    <p:sldId id="39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16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Expected Value, Bernoulli and Binomial Distributions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What are independent events?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Events where one occurring does not change the probability of the other.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is a random variable?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outcome of a random trial recorded as a number.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What is a discrete random variable?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One whose possible values can be listed, like the number of heads in 3 tosses.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What is a probability distribution?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function giving each value of X a probability between 0 and 1; they add to 1.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832852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mean of a random variable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expected value  </a:t>
            </a:r>
            <a:r>
              <a:rPr lang="el-GR" sz="1600">
                <a:solidFill>
                  <a:srgbClr val="000000"/>
                </a:solidFill>
              </a:rPr>
              <a:t>μ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long-run average of X:   μ = Σ x · P(x)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variance  </a:t>
            </a:r>
            <a:r>
              <a:rPr lang="el-GR" sz="1600">
                <a:solidFill>
                  <a:srgbClr val="000000"/>
                </a:solidFill>
              </a:rPr>
              <a:t>σ²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σ² = Σ (x − μ)² · P(x),  and the standard deviation is σ = √σ²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three coin tosses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μ = 0(1/8) + 1(3/8) + 2(3/8) + 3(1/8) = 1.5 heads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0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grade points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STAT 251 exam grade on the 4-point scale, for a student chosen at random: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349504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P(better than a C)?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the mean grade, μ?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29401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(a)  P(X = 3) + P(X = 4) = 0.25 + 0.30 = 0.55</a:t>
            </a:r>
          </a:p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(b)  </a:t>
            </a:r>
            <a:r>
              <a:rPr lang="el-GR" sz="2000" b="1">
                <a:solidFill>
                  <a:srgbClr val="C00000"/>
                </a:solidFill>
                <a:latin typeface="Calibri" panose="020F0502020204030204" pitchFamily="34" charset="0"/>
              </a:rPr>
              <a:t>μ = 0(0.05) + 1(0.10) + 2(0.30) + 3(0.25) + 4(0.30) = 2.65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6" name="Counts">
            <a:extLst>
              <a:ext uri="{FF2B5EF4-FFF2-40B4-BE49-F238E27FC236}">
                <a16:creationId xmlns:a16="http://schemas.microsoft.com/office/drawing/2014/main" id="{A994090D-E39B-DE13-66B8-AFE83B8C75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079549"/>
              </p:ext>
            </p:extLst>
          </p:nvPr>
        </p:nvGraphicFramePr>
        <p:xfrm>
          <a:off x="762000" y="2362200"/>
          <a:ext cx="7620000" cy="10058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478852249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1441621307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92421866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795274109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49031644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202156313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71979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7996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P(x)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0.30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35465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8796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Bernoulli trials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Bernoulli trial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one trial with two outcomes: success (X = 1) with probability p, failure (X = 0) with probability 1 − 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X ~ Bernoulli(p)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its single parameter p is the probability of success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mean and variance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μ = p     and     σ² = p(1 − p)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226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guessing one question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You guess on a multiple-choice question with 4 options, one of them correct.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1 if the guess is right, X = 0 if not;     p = 1/4 = 0.25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P(X = 0)?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are μ and σ²?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l-GR" sz="2000" b="1">
                <a:solidFill>
                  <a:srgbClr val="C00000"/>
                </a:solidFill>
                <a:latin typeface="Calibri" panose="020F0502020204030204" pitchFamily="34" charset="0"/>
              </a:rPr>
              <a:t>(a)  1 − 0.25 = 0.75</a:t>
            </a:r>
          </a:p>
          <a:p>
            <a:r>
              <a:rPr lang="el-GR" sz="2000" b="1">
                <a:solidFill>
                  <a:srgbClr val="C00000"/>
                </a:solidFill>
                <a:latin typeface="Calibri" panose="020F0502020204030204" pitchFamily="34" charset="0"/>
              </a:rPr>
              <a:t>(b)  μ = 0.25,     σ² = 0.25 × 0.75 = 0.1875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78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binomial setting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 fixed number of trials  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trial is repeated a set number of times, decided in advance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two outcomes, the same  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each trial is a success or a failure, with the same probability of success p every time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independent trials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outcome of one trial does not change the probability of success on any other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57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binomial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X ~ Binom(n, p)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 = the number of successes in n independent trials, each with probability of success 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P(X = k)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n! / (k!(n − k)!)  ·  p</a:t>
            </a:r>
            <a:r>
              <a:rPr lang="en-US" sz="1600" b="1" baseline="30000">
                <a:solidFill>
                  <a:srgbClr val="C00000"/>
                </a:solidFill>
              </a:rPr>
              <a:t>k</a:t>
            </a:r>
            <a:r>
              <a:rPr lang="en-US" sz="1600" b="1">
                <a:solidFill>
                  <a:srgbClr val="C00000"/>
                </a:solidFill>
              </a:rPr>
              <a:t>  ·  (1 − p)</a:t>
            </a:r>
            <a:r>
              <a:rPr lang="en-US" sz="1600" b="1" baseline="30000">
                <a:solidFill>
                  <a:srgbClr val="C00000"/>
                </a:solidFill>
              </a:rPr>
              <a:t>n−k</a:t>
            </a:r>
            <a:r>
              <a:rPr lang="en-US" sz="1600" b="1">
                <a:solidFill>
                  <a:srgbClr val="C00000"/>
                </a:solidFill>
              </a:rPr>
              <a:t>:   the first factor counts the ways to arrange k successes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mean and variance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l-PL" sz="1600" b="1">
                <a:solidFill>
                  <a:srgbClr val="C00000"/>
                </a:solidFill>
              </a:rPr>
              <a:t>μ = np     and     σ² = np(1 − p)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252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counting vs. the formula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Monday: X = the number of heads in 3 tosses of a fair coin, counted straight from the sample space.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S = {HHH, HHT, HTH, THH, HTT, THT, TTH, TTT};     X ~ Binom(n = 3, p = 0.5)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From S, what are P(X = 3) and P(X = 2)?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Use the formula to find P(X = 3) and P(X = 2).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does 3! / (2! 1!) count?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1/8  (HHH)   and   3/8  (HHT, HTH, THH)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3!/(3! 0!) · 0.5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3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· 0.5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1/8     3!/(2! 1!) · 0.5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2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· 0.5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1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3/8:  the same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the 3 orders with 2 heads:  HHT, HTH, THH</a:t>
            </a:r>
          </a:p>
        </p:txBody>
      </p:sp>
    </p:spTree>
    <p:extLst>
      <p:ext uri="{BB962C8B-B14F-4D97-AF65-F5344CB8AC3E}">
        <p14:creationId xmlns:p14="http://schemas.microsoft.com/office/powerpoint/2010/main" val="1040840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guessing a whole quiz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You guess on all 10 questions of a 4-option multiple-choice quiz.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~ Binom(n = 10, p = 0.25)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P(X = 3)?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P(X = 0)?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are μ and σ?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10!/(3! 7!) · 0.25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3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· 0.75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7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120 × 0.0156 × 0.1335 ≈ 0.250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0.75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10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≈ 0.056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</a:t>
            </a:r>
            <a:r>
              <a:rPr lang="el-GR" sz="2000" b="1">
                <a:solidFill>
                  <a:srgbClr val="C00000"/>
                </a:solidFill>
                <a:latin typeface="Calibri" panose="020F0502020204030204" pitchFamily="34" charset="0"/>
              </a:rPr>
              <a:t>μ = 10 × 0.25 = 2.5,     σ = √(10 × 0.25 × 0.75) ≈ 1.37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848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shape of a binomial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X ~ Binom(n = 10, p) for three values of p.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does p do to the shape?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38583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p = 0.5: symmetric.     p &lt; 0.5: skewed right.     p &gt; 0.5: skewed left.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The center sits at μ = np:  2, 5 and 8</a:t>
            </a:r>
          </a:p>
        </p:txBody>
      </p:sp>
      <p:pic>
        <p:nvPicPr>
          <p:cNvPr id="6" name="l15_binomial_shapes.png">
            <a:extLst>
              <a:ext uri="{FF2B5EF4-FFF2-40B4-BE49-F238E27FC236}">
                <a16:creationId xmlns:a16="http://schemas.microsoft.com/office/drawing/2014/main" id="{76CDE7A7-5275-83FC-55CD-18424E38248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06132"/>
            <a:ext cx="10668000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685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4115</TotalTime>
  <Words>925</Words>
  <Application>Microsoft Office PowerPoint</Application>
  <PresentationFormat>Widescreen</PresentationFormat>
  <Paragraphs>102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Lecture 16 Expected Value, Bernoulli and Binomial Distributions</vt:lpstr>
      <vt:lpstr>Review</vt:lpstr>
      <vt:lpstr>The mean of a random variable</vt:lpstr>
      <vt:lpstr>Example: grade points</vt:lpstr>
      <vt:lpstr>Bernoulli trials</vt:lpstr>
      <vt:lpstr>Example: guessing one question</vt:lpstr>
      <vt:lpstr>The binomial setting</vt:lpstr>
      <vt:lpstr>The binomial distribution</vt:lpstr>
      <vt:lpstr>Example: counting vs. the formula</vt:lpstr>
      <vt:lpstr>Example: guessing a whole quiz</vt:lpstr>
      <vt:lpstr>The shape of a binomial distribution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416</cp:revision>
  <dcterms:created xsi:type="dcterms:W3CDTF">2023-08-05T23:57:41Z</dcterms:created>
  <dcterms:modified xsi:type="dcterms:W3CDTF">2026-10-07T21:03:44Z</dcterms:modified>
</cp:coreProperties>
</file>