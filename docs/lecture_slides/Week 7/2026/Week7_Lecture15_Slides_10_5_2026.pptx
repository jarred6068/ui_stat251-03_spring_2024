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257" r:id="rId3"/>
    <p:sldId id="383" r:id="rId4"/>
    <p:sldId id="372" r:id="rId5"/>
    <p:sldId id="373" r:id="rId6"/>
    <p:sldId id="388" r:id="rId7"/>
    <p:sldId id="374" r:id="rId8"/>
    <p:sldId id="375" r:id="rId9"/>
    <p:sldId id="386" r:id="rId10"/>
    <p:sldId id="402" r:id="rId11"/>
    <p:sldId id="387" r:id="rId12"/>
    <p:sldId id="376" r:id="rId13"/>
    <p:sldId id="377" r:id="rId14"/>
    <p:sldId id="378" r:id="rId15"/>
    <p:sldId id="379" r:id="rId16"/>
    <p:sldId id="380" r:id="rId17"/>
    <p:sldId id="381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38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15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Random Variables and Discrete Probability Distributions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What is a sample space?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collection of all possible outcomes of a random trial.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What is the law of large numbers?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As the number of trials grows, the relative frequency of A gets closer and closer to P(A).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What are disjoint (mutually exclusive) events?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Events with no outcomes in common, so they cannot happen together:  A ∩ B = ∅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9799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Two more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general addition rule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P(A ∪ B) = P(A) + P(B) − P(A ∩ B):  subtract the overlap so it is not counted twice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multiplication rule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if A and B are independent (one occurring does not change the probability of the other):  P(A ∩ B) = P(A) · P(B)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disjoint ≠ independent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disjoint events cannot happen together, so knowing one happened tells you the other did not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2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one die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Roll a fair six-sided die once.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S = {1, 2, 3, 4, 5, 6},  each outcome has probability 1/6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P(not a six)?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P(1 ∪ 6)?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P(even ∪ greater than 3)?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1 − 1/6 = 5/6   (rule 4)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1/6 + 1/6 = 1/3   (rule 3: a 1 and a 6 are disjoint)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3/6 + 3/6 − 2/6 = 4/6   (the 4 and the 6 are in both)</a:t>
            </a:r>
          </a:p>
        </p:txBody>
      </p:sp>
    </p:spTree>
    <p:extLst>
      <p:ext uri="{BB962C8B-B14F-4D97-AF65-F5344CB8AC3E}">
        <p14:creationId xmlns:p14="http://schemas.microsoft.com/office/powerpoint/2010/main" val="219655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two dice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Roll a fair die twice. The two rolls are independent.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P(six) = 1/6 on each roll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P(six on both rolls)?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P(at least one six)?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(1/6)(1/6) = 1/36   (multiplication rule)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1 − P(no sixes) = 1 − (5/6)(5/6) = 11/36 ≈ 0.31</a:t>
            </a:r>
          </a:p>
        </p:txBody>
      </p:sp>
    </p:spTree>
    <p:extLst>
      <p:ext uri="{BB962C8B-B14F-4D97-AF65-F5344CB8AC3E}">
        <p14:creationId xmlns:p14="http://schemas.microsoft.com/office/powerpoint/2010/main" val="203624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student heights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survey of 379 college students recorded each student's height and gender.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3114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height of a student, in inches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991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n = 379 students   (the file lists the women first, then the men, each sorted by height)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807307"/>
              </p:ext>
            </p:extLst>
          </p:nvPr>
        </p:nvGraphicFramePr>
        <p:xfrm>
          <a:off x="762000" y="2838510"/>
          <a:ext cx="3810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GENDER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00999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562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unions and intersections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Pick one of the 379 students at random.   F = female,   T = at least 70 in.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383032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P(F ∩ T)?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P(F ∪ T)?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62929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19 / 379 ≈ 0.05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262/379 + 106/379 − 19/379 = 349/379 ≈ 0.92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Counts">
            <a:extLst>
              <a:ext uri="{FF2B5EF4-FFF2-40B4-BE49-F238E27FC236}">
                <a16:creationId xmlns:a16="http://schemas.microsoft.com/office/drawing/2014/main" id="{5D3AA0DC-EE8D-6D5B-C9BC-CA90569CE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214105"/>
              </p:ext>
            </p:extLst>
          </p:nvPr>
        </p:nvGraphicFramePr>
        <p:xfrm>
          <a:off x="762000" y="2362200"/>
          <a:ext cx="6604000" cy="1341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10409983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91369782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09906221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89446287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en-US" sz="1600" b="1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At least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Under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6126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61525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7375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354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81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Are F and T independent?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Pick one of the 379 students at random.   F = female,   T = at least 70 in.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383032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Does knowing a student is female change the chance they are at least 70 in?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326652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Yes:  106/379 ≈ 28% of all students, but only 19/262 ≈ 7% of the women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Not independent:  P(F) · P(T) ≈ 0.69 · 0.28 ≈ 0.19, but P(F ∩ T) ≈ 0.05</a:t>
            </a:r>
          </a:p>
        </p:txBody>
      </p:sp>
      <p:graphicFrame>
        <p:nvGraphicFramePr>
          <p:cNvPr id="6" name="Counts">
            <a:extLst>
              <a:ext uri="{FF2B5EF4-FFF2-40B4-BE49-F238E27FC236}">
                <a16:creationId xmlns:a16="http://schemas.microsoft.com/office/drawing/2014/main" id="{E3E652B8-07C8-2399-FAC3-D867B0B4A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18067"/>
              </p:ext>
            </p:extLst>
          </p:nvPr>
        </p:nvGraphicFramePr>
        <p:xfrm>
          <a:off x="762000" y="2362200"/>
          <a:ext cx="6604000" cy="1341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52634113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89088959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5812911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11718388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en-US" sz="1600" b="1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At least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Under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8465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05672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32896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53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11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With or without replacement?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Week 4: drawing a sample of 3 balls from a bag of 5, two ways.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4699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Are the draws independent?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169932"/>
            <a:ext cx="10668000" cy="721578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With replacement:  yes. The bag is the same on every draw, so P(A ∩ B) = P(A) · P(B)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Without replacement:  no. Each draw changes what is left, so the next probability depends on the last draw</a:t>
            </a:r>
          </a:p>
        </p:txBody>
      </p:sp>
      <p:pic>
        <p:nvPicPr>
          <p:cNvPr id="6" name="l8_replacement.png">
            <a:extLst>
              <a:ext uri="{FF2B5EF4-FFF2-40B4-BE49-F238E27FC236}">
                <a16:creationId xmlns:a16="http://schemas.microsoft.com/office/drawing/2014/main" id="{C40CB252-B9F3-F1E3-8D7F-4F266824476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2336800"/>
            <a:ext cx="10922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1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drawing from an 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An urn holds 3 red, 4 blue and 3 yellow balls. Draw 2 balls without replacement.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10 balls in all:   3 red,   4 blue,   3 yellow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P(both red)?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P(no red balls)?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P(both the same color)?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(3/10)(2/9) = 6/90 ≈ 0.067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(7/10)(6/9) = 42/90 ≈ 0.467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(c)  (3/10)(2/9) + (4/10)(3/9) + (3/10)(2/9) = 24/90 ≈ 0.267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76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drawing two 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standard deck has 52 cards, 4 of them aces. Draw two cards.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P(ace on the first draw) = 4/52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P(two aces) if the first card is put back (with replacement)?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P(two aces) if it is not put back (without replacement)?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(4/52)(4/52) = 1/169 ≈ 0.0059:  the draws are independent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(4/52)(3/51) = 1/221 ≈ 0.0045:  only 3 aces are left among 51 cards</a:t>
            </a:r>
          </a:p>
        </p:txBody>
      </p:sp>
    </p:spTree>
    <p:extLst>
      <p:ext uri="{BB962C8B-B14F-4D97-AF65-F5344CB8AC3E}">
        <p14:creationId xmlns:p14="http://schemas.microsoft.com/office/powerpoint/2010/main" val="65487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Random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random variable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outcome of a random trial recorded as a number, written with a capital letter such as 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discrete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its possible values can be listed:  the number of heads in 3 tosses, X = 0, 1, 2,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continuous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it can take any value in an interval:  a student's height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2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three coin tosses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Toss a fair coin 3 times: 2 × 2 × 2 = 8 equally likely outcomes.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number of heads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List the sample space S.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How many outcomes give each value of X?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S = {HHH, HHT, HTH, THH, HTT, THT, TTH, TTT}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X = 0: 1      X = 1: 3      X = 2: 3      X = 3: 1      (out of 8)</a:t>
            </a:r>
          </a:p>
        </p:txBody>
      </p:sp>
    </p:spTree>
    <p:extLst>
      <p:ext uri="{BB962C8B-B14F-4D97-AF65-F5344CB8AC3E}">
        <p14:creationId xmlns:p14="http://schemas.microsoft.com/office/powerpoint/2010/main" val="24747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Discrete probability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probability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function that assigns a probability to each possible value of X; each is between 0 and 1, and they add to 1</a:t>
            </a:r>
            <a:endParaRPr lang="en-US" sz="1600" i="1">
              <a:solidFill>
                <a:srgbClr val="595959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sult">
            <a:extLst>
              <a:ext uri="{FF2B5EF4-FFF2-40B4-BE49-F238E27FC236}">
                <a16:creationId xmlns:a16="http://schemas.microsoft.com/office/drawing/2014/main" id="{572E4A4A-3BD5-CF24-E6F1-9A1E4EB1A29A}"/>
              </a:ext>
            </a:extLst>
          </p:cNvPr>
          <p:cNvSpPr/>
          <p:nvPr/>
        </p:nvSpPr>
        <p:spPr>
          <a:xfrm>
            <a:off x="762000" y="5499100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1 + 3 + 3 + 1 = 8, so the probabilities add to 8/8 = 1</a:t>
            </a:r>
          </a:p>
        </p:txBody>
      </p:sp>
      <p:pic>
        <p:nvPicPr>
          <p:cNvPr id="9" name="l14_three_tosses.png">
            <a:extLst>
              <a:ext uri="{FF2B5EF4-FFF2-40B4-BE49-F238E27FC236}">
                <a16:creationId xmlns:a16="http://schemas.microsoft.com/office/drawing/2014/main" id="{ED984235-E4D2-1F55-779C-74ED2A684C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2540000"/>
            <a:ext cx="7112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4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using a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X = the number of heads in 3 tosses of a fair coin.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nn-NO" sz="2000" b="1">
                <a:solidFill>
                  <a:srgbClr val="000000"/>
                </a:solidFill>
                <a:latin typeface="Calibri" panose="020F0502020204030204" pitchFamily="34" charset="0"/>
              </a:rPr>
              <a:t>P(0) = 1/8     P(1) = 3/8     P(2) = 3/8     P(3) = 1/8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≥ 2)?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P(X ≤ 1)?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P(1 ≤ X ≤ 2)?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3/8 + 1/8 = 4/8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1 − P(X ≥ 2) = 1 − 4/8 = 4/8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(c)  3/8 + 3/8 = 6/8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63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mean of a random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expected value  </a:t>
            </a:r>
            <a:r>
              <a:rPr lang="el-GR" sz="1600">
                <a:solidFill>
                  <a:srgbClr val="000000"/>
                </a:solidFill>
              </a:rPr>
              <a:t>μ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long-run average of X:   μ = Σ x · P(x)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variance  </a:t>
            </a:r>
            <a:r>
              <a:rPr lang="el-GR" sz="1600">
                <a:solidFill>
                  <a:srgbClr val="000000"/>
                </a:solidFill>
              </a:rPr>
              <a:t>σ²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σ² = Σ (x − μ)² · P(x),  and the standard deviation is σ = √σ²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three coin tosses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μ = 0(1/8) + 1(3/8) + 2(3/8) + 3(1/8) = 1.5 heads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0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grade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STAT 251 exam grade on the 4-point scale, for a student chosen at random: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349504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P(better than a C)?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the mean grade, μ?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29401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P(X = 3) + P(X = 4) = 0.25 + 0.30 = 0.55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</a:t>
            </a:r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μ = 0(0.05) + 1(0.10) + 2(0.30) + 3(0.25) + 4(0.30) = 2.65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Counts">
            <a:extLst>
              <a:ext uri="{FF2B5EF4-FFF2-40B4-BE49-F238E27FC236}">
                <a16:creationId xmlns:a16="http://schemas.microsoft.com/office/drawing/2014/main" id="{A994090D-E39B-DE13-66B8-AFE83B8C7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79549"/>
              </p:ext>
            </p:extLst>
          </p:nvPr>
        </p:nvGraphicFramePr>
        <p:xfrm>
          <a:off x="762000" y="2362200"/>
          <a:ext cx="7620000" cy="1005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47885224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44162130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92421866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7952741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4903164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20215631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7197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996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546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79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Bernoulli trials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Bernoulli trial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one trial with two outcomes: success (X = 1) with probability p, failure (X = 0) with probability 1 − 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X ~ Bernoulli(p)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its single parameter p is the probability of success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mean and variance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μ = p     and     σ² = p(1 − p)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2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guessing one 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You guess on a multiple-choice question with 4 options, one of them correct.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1 if the guess is right, X = 0 if not;     p = 1/4 = 0.25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= 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are μ and σ²?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(a)  1 − 0.25 = 0.75</a:t>
            </a:r>
          </a:p>
          <a:p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(b)  μ = 0.25,     σ² = 0.25 × 0.75 = 0.1875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78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binomial setting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 fixed number of trials  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trial is repeated a set number of times, decided in advance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two outcomes, the same  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each trial is a success or a failure, with the same probability of success p every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independent trials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outcome of one trial does not change the probability of success on any other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7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binomial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X ~ Binom(n, p)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 = the number of successes in n independent trials, each with probability of success 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P(X = 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n! / (k!(n − k)!)  ·  p</a:t>
            </a:r>
            <a:r>
              <a:rPr lang="en-US" sz="1600" b="1" baseline="30000">
                <a:solidFill>
                  <a:srgbClr val="C00000"/>
                </a:solidFill>
              </a:rPr>
              <a:t>k</a:t>
            </a:r>
            <a:r>
              <a:rPr lang="en-US" sz="1600" b="1">
                <a:solidFill>
                  <a:srgbClr val="C00000"/>
                </a:solidFill>
              </a:rPr>
              <a:t>  ·  (1 − p)</a:t>
            </a:r>
            <a:r>
              <a:rPr lang="en-US" sz="1600" b="1" baseline="30000">
                <a:solidFill>
                  <a:srgbClr val="C00000"/>
                </a:solidFill>
              </a:rPr>
              <a:t>n−k</a:t>
            </a:r>
            <a:r>
              <a:rPr lang="en-US" sz="1600" b="1">
                <a:solidFill>
                  <a:srgbClr val="C00000"/>
                </a:solidFill>
              </a:rPr>
              <a:t>:   the first factor counts the ways to arrange k successes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mean and variance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l-PL" sz="1600" b="1">
                <a:solidFill>
                  <a:srgbClr val="C00000"/>
                </a:solidFill>
              </a:rPr>
              <a:t>μ = np     and     σ² = np(1 − p)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5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three tosses again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22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Friday: X = the number of heads in 3 tosses of a fair coin, counted from the 8 outcomes.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~ Binom(n = 3, p = 0.5)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Use the formula to find P(X = 2).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does 3! / (2! 1!) count?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3!/(2! 1!) · 0.5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2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· 0.5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1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3 × 1/8 = 3/8:  the same answer as counting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the 3 orders with 2 heads:  HHT, HTH, THH</a:t>
            </a:r>
          </a:p>
        </p:txBody>
      </p:sp>
    </p:spTree>
    <p:extLst>
      <p:ext uri="{BB962C8B-B14F-4D97-AF65-F5344CB8AC3E}">
        <p14:creationId xmlns:p14="http://schemas.microsoft.com/office/powerpoint/2010/main" val="104084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guessing a whole quiz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You guess on all 10 questions of a 4-option multiple-choice quiz.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~ Binom(n = 10, p = 0.25)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= 3)?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P(X = 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are μ and σ?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10!/(3! 7!) · 0.25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3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· 0.75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7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120 × 0.0156 × 0.1335 ≈ 0.250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0.75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10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≈ 0.056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</a:t>
            </a:r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μ = 10 × 0.25 = 2.5,     σ = √(10 × 0.25 × 0.75) ≈ 1.37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84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shape of a binomial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X ~ Binom(n = 10, p) for three values of p.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What does p do to the shape?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385832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p = 0.5: symmetric.     p &lt; 0.5: skewed right.     p &gt; 0.5: skewed left.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The center sits at μ = np:  2, 5 and 8</a:t>
            </a:r>
          </a:p>
        </p:txBody>
      </p:sp>
      <p:pic>
        <p:nvPicPr>
          <p:cNvPr id="6" name="l15_binomial_shapes.png">
            <a:extLst>
              <a:ext uri="{FF2B5EF4-FFF2-40B4-BE49-F238E27FC236}">
                <a16:creationId xmlns:a16="http://schemas.microsoft.com/office/drawing/2014/main" id="{76CDE7A7-5275-83FC-55CD-18424E3824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06132"/>
            <a:ext cx="106680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8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free throws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Stephen Curry has made 4,236 of the 4,645 free throws he has attempted in the NBA.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p = 4,236 / 4,645 ≈ 0.912;     he shoots n = 10;     X = free throws made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P(he makes all 10)?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P(he misses at least one)?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How many does he make, on average?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l-PL" sz="2000" b="1">
                <a:solidFill>
                  <a:srgbClr val="C00000"/>
                </a:solidFill>
                <a:latin typeface="Calibri" panose="020F0502020204030204" pitchFamily="34" charset="0"/>
              </a:rPr>
              <a:t>(a)  0.912</a:t>
            </a:r>
            <a:r>
              <a:rPr lang="pl-PL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10</a:t>
            </a:r>
            <a:r>
              <a:rPr lang="pl-PL" sz="2000" b="1">
                <a:solidFill>
                  <a:srgbClr val="C00000"/>
                </a:solidFill>
                <a:latin typeface="Calibri" panose="020F0502020204030204" pitchFamily="34" charset="0"/>
              </a:rPr>
              <a:t> ≈ 0.40</a:t>
            </a:r>
          </a:p>
          <a:p>
            <a:r>
              <a:rPr lang="pl-PL" sz="2000" b="1">
                <a:solidFill>
                  <a:srgbClr val="C00000"/>
                </a:solidFill>
                <a:latin typeface="Calibri" panose="020F0502020204030204" pitchFamily="34" charset="0"/>
              </a:rPr>
              <a:t>(b)  1 − 0.40 = 0.60</a:t>
            </a:r>
          </a:p>
          <a:p>
            <a:r>
              <a:rPr lang="pl-PL" sz="2000" b="1">
                <a:solidFill>
                  <a:srgbClr val="C00000"/>
                </a:solidFill>
                <a:latin typeface="Calibri" panose="020F0502020204030204" pitchFamily="34" charset="0"/>
              </a:rPr>
              <a:t>(c)  μ = np = 10 × 0.912 ≈ 9.1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9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Is it binomial?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For each X, check the three conditions:  fixed n,  the same p,  independent trials.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X = the number of heads in 20 flips of a coin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X = the number of aces in a 5-card hand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X = the number of rolls of a die until the first six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41302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Yes:  n = 20,  p = 0.5,  and the flips are independent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No:  the cards are dealt without replacement, so the draws are not independent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No:  the number of trials n is not fixed</a:t>
            </a:r>
          </a:p>
        </p:txBody>
      </p:sp>
    </p:spTree>
    <p:extLst>
      <p:ext uri="{BB962C8B-B14F-4D97-AF65-F5344CB8AC3E}">
        <p14:creationId xmlns:p14="http://schemas.microsoft.com/office/powerpoint/2010/main" val="416657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Poisson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X ~ Poisson(</a:t>
            </a:r>
            <a:r>
              <a:rPr lang="el-GR" sz="1600">
                <a:solidFill>
                  <a:srgbClr val="000000"/>
                </a:solidFill>
              </a:rPr>
              <a:t>λ)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 = the number of events in a fixed interval of time or space, when events occur independently at an average rate 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P(X = 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l-GR" sz="1600" b="1">
                <a:solidFill>
                  <a:srgbClr val="C00000"/>
                </a:solidFill>
              </a:rPr>
              <a:t>λ</a:t>
            </a:r>
            <a:r>
              <a:rPr lang="en-US" sz="1600" b="1" baseline="30000">
                <a:solidFill>
                  <a:srgbClr val="C00000"/>
                </a:solidFill>
              </a:rPr>
              <a:t>k</a:t>
            </a:r>
            <a:r>
              <a:rPr lang="en-US" sz="1600" b="1">
                <a:solidFill>
                  <a:srgbClr val="C00000"/>
                </a:solidFill>
              </a:rPr>
              <a:t> e</a:t>
            </a:r>
            <a:r>
              <a:rPr lang="en-US" sz="1600" b="1" baseline="30000">
                <a:solidFill>
                  <a:srgbClr val="C00000"/>
                </a:solidFill>
              </a:rPr>
              <a:t>−</a:t>
            </a:r>
            <a:r>
              <a:rPr lang="el-GR" sz="1600" b="1" baseline="30000">
                <a:solidFill>
                  <a:srgbClr val="C00000"/>
                </a:solidFill>
              </a:rPr>
              <a:t>λ</a:t>
            </a:r>
            <a:r>
              <a:rPr lang="el-GR" sz="1600" b="1">
                <a:solidFill>
                  <a:srgbClr val="C00000"/>
                </a:solidFill>
              </a:rPr>
              <a:t> / </a:t>
            </a:r>
            <a:r>
              <a:rPr lang="en-US" sz="1600" b="1">
                <a:solidFill>
                  <a:srgbClr val="C00000"/>
                </a:solidFill>
              </a:rPr>
              <a:t>k!,     k = 0, 1, 2, …     (e ≈ 2.718)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mean and variance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l-GR" sz="1600" b="1">
                <a:solidFill>
                  <a:srgbClr val="C00000"/>
                </a:solidFill>
              </a:rPr>
              <a:t>μ = λ     and     σ² = λ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World Cup goals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2022 FIFA World Cup had 172 goals in 64 matches.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λ = 172 / 64 ≈ 2.69 goals per match;     X = goals in one match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= 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How many of the 64 matches does the model expect to end 0–0?  (There were 7.)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λ for one 45-minute half, and P(no goals in a half)?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e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−2.69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≈ 0.068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64 × 0.068 ≈ 4.4:  close, but a model is never a perfect fit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λ = 2.69 / 2 ≈ 1.34,     P(X = 0) = e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−1.34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≈ 0.26</a:t>
            </a:r>
          </a:p>
        </p:txBody>
      </p:sp>
    </p:spTree>
    <p:extLst>
      <p:ext uri="{BB962C8B-B14F-4D97-AF65-F5344CB8AC3E}">
        <p14:creationId xmlns:p14="http://schemas.microsoft.com/office/powerpoint/2010/main" val="195428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Goals per match: the Poisson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X ~ Poisson(λ = 2.69): the probability of each number of goals in a match.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Which number of goals is most likely? Is the distribution symmetric?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6398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Two goals (0.25), then three (0.22);  skewed right:  X cannot go below 0 but has no upper limit</a:t>
            </a:r>
          </a:p>
        </p:txBody>
      </p:sp>
      <p:pic>
        <p:nvPicPr>
          <p:cNvPr id="6" name="l15_poisson_goals.png">
            <a:extLst>
              <a:ext uri="{FF2B5EF4-FFF2-40B4-BE49-F238E27FC236}">
                <a16:creationId xmlns:a16="http://schemas.microsoft.com/office/drawing/2014/main" id="{AC90B376-2A68-DB13-3770-4696990C57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2706132"/>
            <a:ext cx="8128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0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know: discrete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probability rules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P(A′) = 1 − P(A);   P(A ∪ B) = P(A) + P(B) − P(A ∩ B);   independent: P(A ∩ B) = P(A) P(B)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random variables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discrete distribution lists each value of X with its probability, adding to 1;   μ = Σ x P(x)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binomial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successes in n independent trials with the same p:   μ = np,   σ² = np(1 − p);   Bernoulli is n = 1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Poisson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events in a fixed interval at an average rate λ:   μ = σ² = λ</a:t>
            </a:r>
          </a:p>
        </p:txBody>
      </p:sp>
    </p:spTree>
    <p:extLst>
      <p:ext uri="{BB962C8B-B14F-4D97-AF65-F5344CB8AC3E}">
        <p14:creationId xmlns:p14="http://schemas.microsoft.com/office/powerpoint/2010/main" val="332453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3976</TotalTime>
  <Words>2657</Words>
  <Application>Microsoft Office PowerPoint</Application>
  <PresentationFormat>Widescreen</PresentationFormat>
  <Paragraphs>293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Lecture 15 Random Variables and Discrete Probability Distributions</vt:lpstr>
      <vt:lpstr>Review</vt:lpstr>
      <vt:lpstr>Two more rules</vt:lpstr>
      <vt:lpstr>Example: one die</vt:lpstr>
      <vt:lpstr>Example: two dice</vt:lpstr>
      <vt:lpstr>Data: student heights</vt:lpstr>
      <vt:lpstr>Example: unions and intersections</vt:lpstr>
      <vt:lpstr>Are F and T independent?</vt:lpstr>
      <vt:lpstr>With or without replacement?</vt:lpstr>
      <vt:lpstr>Example: drawing from an urn</vt:lpstr>
      <vt:lpstr>Example: drawing two aces</vt:lpstr>
      <vt:lpstr>Random variables</vt:lpstr>
      <vt:lpstr>Example: three coin tosses</vt:lpstr>
      <vt:lpstr>Discrete probability distributions</vt:lpstr>
      <vt:lpstr>Example: using a distribution</vt:lpstr>
      <vt:lpstr>The mean of a random variable</vt:lpstr>
      <vt:lpstr>Example: grade points</vt:lpstr>
      <vt:lpstr>Bernoulli trials</vt:lpstr>
      <vt:lpstr>Example: guessing one question</vt:lpstr>
      <vt:lpstr>The binomial setting</vt:lpstr>
      <vt:lpstr>The binomial distribution</vt:lpstr>
      <vt:lpstr>Example: three tosses again</vt:lpstr>
      <vt:lpstr>Example: guessing a whole quiz</vt:lpstr>
      <vt:lpstr>The shape of a binomial distribution</vt:lpstr>
      <vt:lpstr>Example: free throws</vt:lpstr>
      <vt:lpstr>Is it binomial?</vt:lpstr>
      <vt:lpstr>The Poisson distribution</vt:lpstr>
      <vt:lpstr>Example: World Cup goals</vt:lpstr>
      <vt:lpstr>Goals per match: the Poisson model</vt:lpstr>
      <vt:lpstr>What you should know: discrete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411</cp:revision>
  <dcterms:created xsi:type="dcterms:W3CDTF">2023-08-05T23:57:41Z</dcterms:created>
  <dcterms:modified xsi:type="dcterms:W3CDTF">2026-10-05T18:55:55Z</dcterms:modified>
</cp:coreProperties>
</file>