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383" r:id="rId4"/>
    <p:sldId id="372" r:id="rId5"/>
    <p:sldId id="373" r:id="rId6"/>
    <p:sldId id="388" r:id="rId7"/>
    <p:sldId id="374" r:id="rId8"/>
    <p:sldId id="375" r:id="rId9"/>
    <p:sldId id="386" r:id="rId10"/>
    <p:sldId id="402" r:id="rId11"/>
    <p:sldId id="387" r:id="rId12"/>
    <p:sldId id="376" r:id="rId13"/>
    <p:sldId id="377" r:id="rId14"/>
    <p:sldId id="378" r:id="rId15"/>
    <p:sldId id="37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15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Random Variables and Discrete Probability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a sample space?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collection of all possible outcomes of a random trial.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law of large numbers?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As the number of trials grows, the relative frequency of A gets closer and closer to P(A).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are disjoint (mutually exclusive) events?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Events with no outcomes in common, so they cannot happen together:  A ∩ B = ∅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97996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more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general addition rule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P(A ∪ B) = P(A) + P(B) − P(A ∩ B):  subtract the overlap so it is not counted twice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multiplication rule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if A and B are independent (one occurring does not change the probability of the other):  P(A ∩ B) = P(A) · P(B)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disjoint ≠ independent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disjoint events cannot happen together, so knowing one happened tells you the other did not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52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one die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Roll a fair six-sided die once.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S = {1, 2, 3, 4, 5, 6},  each outcome has probability 1/6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P(not a six)?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P(1 ∪ 6)?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P(even ∪ greater than 3)?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1 − 1/6 = 5/6   (rule 4)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1/6 + 1/6 = 1/3   (rule 3: a 1 and a 6 are disjoint)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3/6 + 3/6 − 2/6 = 4/6   (the 4 and the 6 are in both)</a:t>
            </a:r>
          </a:p>
        </p:txBody>
      </p:sp>
    </p:spTree>
    <p:extLst>
      <p:ext uri="{BB962C8B-B14F-4D97-AF65-F5344CB8AC3E}">
        <p14:creationId xmlns:p14="http://schemas.microsoft.com/office/powerpoint/2010/main" val="2196554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two dice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Roll a fair die twice. The two rolls are independent.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P(six) = 1/6 on each roll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P(six on both rolls)?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P(at least one six)?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(1/6)(1/6) = 1/36   (multiplication rule)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1 − P(no sixes) = 1 − (5/6)(5/6) = 11/36 ≈ 0.31</a:t>
            </a:r>
          </a:p>
        </p:txBody>
      </p:sp>
    </p:spTree>
    <p:extLst>
      <p:ext uri="{BB962C8B-B14F-4D97-AF65-F5344CB8AC3E}">
        <p14:creationId xmlns:p14="http://schemas.microsoft.com/office/powerpoint/2010/main" val="203624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student heights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survey of 379 college students recorded each student's height and gender.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height of a student, in inches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379 students   (the file lists the women first, then the men, each sorted by height)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807307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HEIGHT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GENDER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562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unions and intersections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Pick one of the 379 students at random.   F = female,   T = at least 70 in.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383032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P(F ∩ T)?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P(F ∪ T)?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62929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19 / 379 ≈ 0.05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(b)  262/379 + 106/379 − 19/379 = 349/379 ≈ 0.92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6" name="Counts">
            <a:extLst>
              <a:ext uri="{FF2B5EF4-FFF2-40B4-BE49-F238E27FC236}">
                <a16:creationId xmlns:a16="http://schemas.microsoft.com/office/drawing/2014/main" id="{5D3AA0DC-EE8D-6D5B-C9BC-CA90569CE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214105"/>
              </p:ext>
            </p:extLst>
          </p:nvPr>
        </p:nvGraphicFramePr>
        <p:xfrm>
          <a:off x="762000" y="2362200"/>
          <a:ext cx="6604000" cy="13411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104099834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91369782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099062217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894462874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endParaRPr lang="en-US" sz="1600" b="1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At least 70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Under 70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96126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61525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77375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54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7811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Are F and T independent?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Pick one of the 379 students at random.   F = female,   T = at least 70 in.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383032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Does knowing a student is female change the chance they are at least 70 in?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32665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Yes:  106/379 ≈ 28% of all students, but only 19/262 ≈ 7% of the women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Not independent:  P(F) · P(T) ≈ 0.69 · 0.28 ≈ 0.19, but P(F ∩ T) ≈ 0.05</a:t>
            </a:r>
          </a:p>
        </p:txBody>
      </p:sp>
      <p:graphicFrame>
        <p:nvGraphicFramePr>
          <p:cNvPr id="6" name="Counts">
            <a:extLst>
              <a:ext uri="{FF2B5EF4-FFF2-40B4-BE49-F238E27FC236}">
                <a16:creationId xmlns:a16="http://schemas.microsoft.com/office/drawing/2014/main" id="{E3E652B8-07C8-2399-FAC3-D867B0B4A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418067"/>
              </p:ext>
            </p:extLst>
          </p:nvPr>
        </p:nvGraphicFramePr>
        <p:xfrm>
          <a:off x="762000" y="2362200"/>
          <a:ext cx="6604000" cy="13411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1526341136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890889597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158129116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111718388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endParaRPr lang="en-US" sz="1600" b="1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At least 70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Under 70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8465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056728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2896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153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2112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With or without replacement?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Week 4: drawing a sample of 3 balls from a bag of 5, two ways.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4699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Are the draws independent?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169932"/>
            <a:ext cx="10668000" cy="721578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With replacement:  yes. The bag is the same on every draw, so P(A ∩ B) = P(A) · P(B)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Without replacement:  no. Each draw changes what is left, so the next probability depends on the last draw</a:t>
            </a:r>
          </a:p>
        </p:txBody>
      </p:sp>
      <p:pic>
        <p:nvPicPr>
          <p:cNvPr id="6" name="l8_replacement.png">
            <a:extLst>
              <a:ext uri="{FF2B5EF4-FFF2-40B4-BE49-F238E27FC236}">
                <a16:creationId xmlns:a16="http://schemas.microsoft.com/office/drawing/2014/main" id="{C40CB252-B9F3-F1E3-8D7F-4F266824476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336800"/>
            <a:ext cx="10922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319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drawing from an 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An urn holds 3 red, 4 blue and 3 yellow balls. Draw 2 balls without replacement.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10 balls in all:   3 red,   4 blue,   3 yellow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P(both red)?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P(no red balls)?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P(both the same color)?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(3/10)(2/9) = 6/90 ≈ 0.067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(b)  (7/10)(6/9) = 42/90 ≈ 0.467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(c)  (3/10)(2/9) + (4/10)(3/9) + (3/10)(2/9) = 24/90 ≈ 0.267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1764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drawing two 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standard deck has 52 cards, 4 of them aces. Draw two cards.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P(ace on the first draw) = 4/52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P(two aces) if the first card is put back (with replacement)?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P(two aces) if it is not put back (without replacement)?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(4/52)(4/52) = 1/169 ≈ 0.0059:  the draws are independent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(4/52)(3/51) = 1/221 ≈ 0.0045:  only 3 aces are left among 51 cards</a:t>
            </a:r>
          </a:p>
        </p:txBody>
      </p:sp>
    </p:spTree>
    <p:extLst>
      <p:ext uri="{BB962C8B-B14F-4D97-AF65-F5344CB8AC3E}">
        <p14:creationId xmlns:p14="http://schemas.microsoft.com/office/powerpoint/2010/main" val="65487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random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outcome of a random trial recorded as a number, written with a capital letter such as 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discrete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its possible values can be listed:  the number of heads in 3 tosses, X = 0, 1, 2, 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continuous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it can take any value in an interval:  a student's height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727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three coin tosses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Toss a fair coin 3 times: 2 × 2 × 2 = 8 equally likely outcomes.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number of heads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List the sample space S.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many outcomes give each value of X?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 = {HHH, HHT, HTH, THH, HTT, THT, TTH, TTT}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X = 0: 1      X = 1: 3      X = 2: 3      X = 3: 1      (out of 8)</a:t>
            </a:r>
          </a:p>
        </p:txBody>
      </p:sp>
    </p:spTree>
    <p:extLst>
      <p:ext uri="{BB962C8B-B14F-4D97-AF65-F5344CB8AC3E}">
        <p14:creationId xmlns:p14="http://schemas.microsoft.com/office/powerpoint/2010/main" val="247472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Discrete probability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probability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function that assigns a probability to each possible value of X; each is between 0 and 1, and they add to 1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sult">
            <a:extLst>
              <a:ext uri="{FF2B5EF4-FFF2-40B4-BE49-F238E27FC236}">
                <a16:creationId xmlns:a16="http://schemas.microsoft.com/office/drawing/2014/main" id="{572E4A4A-3BD5-CF24-E6F1-9A1E4EB1A29A}"/>
              </a:ext>
            </a:extLst>
          </p:cNvPr>
          <p:cNvSpPr/>
          <p:nvPr/>
        </p:nvSpPr>
        <p:spPr>
          <a:xfrm>
            <a:off x="762000" y="54991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1 + 3 + 3 + 1 = 8, so the probabilities add to 8/8 = 1</a:t>
            </a:r>
          </a:p>
        </p:txBody>
      </p:sp>
      <p:pic>
        <p:nvPicPr>
          <p:cNvPr id="9" name="l14_three_tosses.png">
            <a:extLst>
              <a:ext uri="{FF2B5EF4-FFF2-40B4-BE49-F238E27FC236}">
                <a16:creationId xmlns:a16="http://schemas.microsoft.com/office/drawing/2014/main" id="{ED984235-E4D2-1F55-779C-74ED2A684C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0" y="2540000"/>
            <a:ext cx="7112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4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using a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X = the number of heads in 3 tosses of a fair coin.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nn-NO" sz="2000" b="1">
                <a:solidFill>
                  <a:srgbClr val="000000"/>
                </a:solidFill>
                <a:latin typeface="Calibri" panose="020F0502020204030204" pitchFamily="34" charset="0"/>
              </a:rPr>
              <a:t>P(0) = 1/8     P(1) = 3/8     P(2) = 3/8     P(3) = 1/8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P(X ≥ 2)?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P(X ≤ 1)?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P(1 ≤ X ≤ 2)?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3/8 + 1/8 = 4/8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(b)  1 − P(X ≥ 2) = 1 − 4/8 = 4/8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(c)  3/8 + 3/8 = 6/8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7630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3981</TotalTime>
  <Words>1277</Words>
  <Application>Microsoft Office PowerPoint</Application>
  <PresentationFormat>Widescreen</PresentationFormat>
  <Paragraphs>152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Lecture 15 Random Variables and Discrete Probability Distributions</vt:lpstr>
      <vt:lpstr>Review</vt:lpstr>
      <vt:lpstr>Two more rules</vt:lpstr>
      <vt:lpstr>Example: one die</vt:lpstr>
      <vt:lpstr>Example: two dice</vt:lpstr>
      <vt:lpstr>Data: student heights</vt:lpstr>
      <vt:lpstr>Example: unions and intersections</vt:lpstr>
      <vt:lpstr>Are F and T independent?</vt:lpstr>
      <vt:lpstr>With or without replacement?</vt:lpstr>
      <vt:lpstr>Example: drawing from an urn</vt:lpstr>
      <vt:lpstr>Example: drawing two aces</vt:lpstr>
      <vt:lpstr>Random variables</vt:lpstr>
      <vt:lpstr>Example: three coin tosses</vt:lpstr>
      <vt:lpstr>Discrete probability distributions</vt:lpstr>
      <vt:lpstr>Example: using a distribution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412</cp:revision>
  <dcterms:created xsi:type="dcterms:W3CDTF">2023-08-05T23:57:41Z</dcterms:created>
  <dcterms:modified xsi:type="dcterms:W3CDTF">2026-10-07T18:42:07Z</dcterms:modified>
</cp:coreProperties>
</file>