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0" r:id="rId2"/>
    <p:sldId id="257" r:id="rId3"/>
    <p:sldId id="397" r:id="rId4"/>
    <p:sldId id="407" r:id="rId5"/>
    <p:sldId id="398" r:id="rId6"/>
    <p:sldId id="399" r:id="rId7"/>
    <p:sldId id="400" r:id="rId8"/>
    <p:sldId id="401" r:id="rId9"/>
    <p:sldId id="402" r:id="rId10"/>
    <p:sldId id="405" r:id="rId11"/>
    <p:sldId id="406" r:id="rId12"/>
    <p:sldId id="38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821C1-92D8-0827-CE2B-80FEA840C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EA748-2C8E-5D78-5734-D9BCC16EC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15553-DE39-3C41-4AFF-70F29A86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2837C-8079-1B7F-0DCF-61C39ED3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5E205-162F-206E-F4C6-EB23D9DC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7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3490-30A7-12A6-2775-77578A34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B95F-B119-D057-5670-8EC21A84E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D001D-CEFB-FD30-FB40-0BEA5B52D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3377D-E7F3-D264-FB03-A4AF3E33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48992-A907-9503-F005-BAA8A33C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0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B320-EDC1-EDD2-5F4C-2A675BD0C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8A940-1637-AC6F-0247-A5E578765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2A479-CAFF-245E-F61F-3D6F3E5C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24E38-70F9-0CAE-F19E-6DDE6005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4C88-12BC-0657-008B-8419B1E1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9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02A09-336F-FDC8-F0C1-F84E0972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F6849-08AF-456F-8C3C-E6DE37B3B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E5562-6B4C-F11F-DF48-D254599EA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69C05-114E-11FE-5C76-D6F19175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1C5D0-A8D9-EEF2-15E4-CE74A390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944C5-75A0-666E-C3DD-6839AB17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EC19E-080C-F794-EB45-FB4903CDD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5744A-FDBE-87AE-7AF1-3AC154DB2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970E4-B2B1-0370-3C26-0D1A5A002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A4F036-B8A8-878F-A1CB-05DAE5801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B7F82-EBC0-322A-130D-972F39800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21A5BB-D71E-872F-6F0E-2279BE48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56747-8CBE-BF00-C39A-F442E724C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2C14A-6287-B5B6-C760-7F506FD8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3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9713-B0F2-9D1D-23FC-F5900F77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6FC7EC-16C8-C311-316C-6D99B4F99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E4DA7-A4C5-460E-592C-CEF23DF3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F3F89-7820-6BF8-A747-E433ED21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4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AD0FD-7A61-970C-10A9-76E2B39D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95651-C89A-3C9B-3D47-F7E5CAF6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09228-92F1-54DE-D9B2-4AC018D5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0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F474-02F7-A264-4B8D-717F5EB0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A8C9F-750F-7D81-0E80-7FBCDEBEB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A1C0B-C510-B118-D8FA-12722456A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4604E-EC60-44AD-4B70-12B2B49A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2C4B9-91B9-9E0E-9278-1C043376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1E60F-F796-8B15-08E9-61BA30F0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0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564D-22A0-8A8D-C6FE-D6299843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13DEA-5246-B946-AFE4-3B305BCDB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208CC-31DD-00AF-BFC4-37F7B4BF3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7E30D-B05F-B2CA-9A3C-E01E2B6B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08FCE-463A-D1B2-8A60-3B674420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38537-A621-46D4-781D-4E36BF83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42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105C2-17EC-1173-1FC9-8A7FC101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BBB4A-325C-1F27-06A3-6F4F1A8F5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A6F55-A1EF-6AEC-99F0-DBF50F5E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1FD1D-86F4-EDE3-1CCE-ADED2161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0593-ABE9-0E50-7A75-9252A5A1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7FF77-0DAD-7CA9-B02D-208C02048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298FA-F111-2C9C-551D-A1F30B239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1B556-1ED0-55E4-9235-352E1A16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4A71E-8AC3-EA68-1DCB-99E68A46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1CF60-74F8-B2C5-26C3-77536C36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6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8B48B-0371-7ADD-E5C3-345B4D6C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B5A92-73C5-8CE0-7C84-BE7902E60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5212B-F67A-E417-B1FE-C389458DF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82561-BD16-4A95-ACA1-5204E478F2F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9799A-D006-E28E-8EED-4BE2AFCB8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69CB4-3B3A-FD13-F7E0-B4A0F3476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9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151A-3AFE-974F-DDC4-9B99389C3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05419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Lecture 17</a:t>
            </a:r>
            <a:br>
              <a:rPr lang="en-US">
                <a:solidFill>
                  <a:srgbClr val="1F3864"/>
                </a:solidFill>
              </a:rPr>
            </a:br>
            <a:r>
              <a:rPr lang="en-US">
                <a:solidFill>
                  <a:srgbClr val="1F3864"/>
                </a:solidFill>
              </a:rPr>
              <a:t>Binomial, Poisson and Normal Distributions</a:t>
            </a:r>
            <a:endParaRPr lang="en-US" dirty="0">
              <a:solidFill>
                <a:srgbClr val="1F38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479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5104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Review</a:t>
            </a:r>
            <a:endParaRPr lang="en-US" dirty="0">
              <a:solidFill>
                <a:srgbClr val="1F3864"/>
              </a:solidFill>
            </a:endParaRPr>
          </a:p>
        </p:txBody>
      </p:sp>
      <p:sp>
        <p:nvSpPr>
          <p:cNvPr id="3" name="Question 1"/>
          <p:cNvSpPr/>
          <p:nvPr/>
        </p:nvSpPr>
        <p:spPr>
          <a:xfrm>
            <a:off x="838200" y="107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1   </a:t>
            </a:r>
            <a:r>
              <a:rPr lang="en-US" b="1"/>
              <a:t>What is the expected value of a random variable?</a:t>
            </a:r>
            <a:endParaRPr lang="en-US" b="1" dirty="0"/>
          </a:p>
        </p:txBody>
      </p:sp>
      <p:sp>
        <p:nvSpPr>
          <p:cNvPr id="4" name="Answer 1"/>
          <p:cNvSpPr txBox="1"/>
          <p:nvPr/>
        </p:nvSpPr>
        <p:spPr>
          <a:xfrm>
            <a:off x="1066800" y="1655688"/>
            <a:ext cx="10058400" cy="6502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The long-run average of X:   μ = Σ x · P(x)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5" name="Question 2"/>
          <p:cNvSpPr/>
          <p:nvPr/>
        </p:nvSpPr>
        <p:spPr>
          <a:xfrm>
            <a:off x="838200" y="238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2   </a:t>
            </a:r>
            <a:r>
              <a:rPr lang="en-US" b="1"/>
              <a:t>What is the standard deviation of a random variable?</a:t>
            </a:r>
            <a:endParaRPr lang="en-US" b="1" dirty="0"/>
          </a:p>
        </p:txBody>
      </p:sp>
      <p:sp>
        <p:nvSpPr>
          <p:cNvPr id="6" name="Answer 2"/>
          <p:cNvSpPr txBox="1"/>
          <p:nvPr/>
        </p:nvSpPr>
        <p:spPr>
          <a:xfrm>
            <a:off x="1066800" y="2965688"/>
            <a:ext cx="10058400" cy="589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The typical distance of X from μ:   σ = √Σ (x − μ)² · P(x)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7" name="Question 3"/>
          <p:cNvSpPr/>
          <p:nvPr/>
        </p:nvSpPr>
        <p:spPr>
          <a:xfrm>
            <a:off x="838200" y="369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3   </a:t>
            </a:r>
            <a:r>
              <a:rPr lang="en-US" b="1"/>
              <a:t>What is a Bernoulli trial?</a:t>
            </a:r>
            <a:endParaRPr lang="en-US" b="1" dirty="0"/>
          </a:p>
        </p:txBody>
      </p:sp>
      <p:sp>
        <p:nvSpPr>
          <p:cNvPr id="8" name="Answer 3"/>
          <p:cNvSpPr txBox="1"/>
          <p:nvPr/>
        </p:nvSpPr>
        <p:spPr>
          <a:xfrm>
            <a:off x="1066800" y="427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One trial with two outcomes: success with probability p, failure with probability 1 − p.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9" name="Question 4"/>
          <p:cNvSpPr/>
          <p:nvPr/>
        </p:nvSpPr>
        <p:spPr>
          <a:xfrm>
            <a:off x="838200" y="500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4   </a:t>
            </a:r>
            <a:r>
              <a:rPr lang="en-US" b="1"/>
              <a:t>What is a binomial random variable?</a:t>
            </a:r>
            <a:endParaRPr lang="en-US" b="1" dirty="0"/>
          </a:p>
        </p:txBody>
      </p:sp>
      <p:sp>
        <p:nvSpPr>
          <p:cNvPr id="10" name="Answer 4"/>
          <p:cNvSpPr txBox="1"/>
          <p:nvPr/>
        </p:nvSpPr>
        <p:spPr>
          <a:xfrm>
            <a:off x="1066800" y="5585688"/>
            <a:ext cx="10058400" cy="589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The number of successes in n independent trials, each with the same probability of success p.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6091C9-B7EB-6BBE-A602-1479CDF97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04806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free throws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Stephen Curry has made 4,236 of the 4,645 free throws he has attempted in the NBA.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p = 4,236 / 4,645 ≈ 0.912;     he shoots n = 10;     X = free throws made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P(he makes all 10)?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P(he makes at least 2), P(X ≥ 2)?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How many does he make, on average?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141178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0.912</a:t>
            </a:r>
            <a:r>
              <a:rPr lang="en-US" sz="2000" b="1" baseline="30000">
                <a:solidFill>
                  <a:srgbClr val="C00000"/>
                </a:solidFill>
                <a:latin typeface="Calibri" panose="020F0502020204030204" pitchFamily="34" charset="0"/>
              </a:rPr>
              <a:t>10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≈ 0.40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1 − P(X &lt; 2) = 1 − [P(0) + P(1)] = 1 − [0.088</a:t>
            </a:r>
            <a:r>
              <a:rPr lang="en-US" sz="2000" b="1" baseline="30000">
                <a:solidFill>
                  <a:srgbClr val="C00000"/>
                </a:solidFill>
                <a:latin typeface="Calibri" panose="020F0502020204030204" pitchFamily="34" charset="0"/>
              </a:rPr>
              <a:t>10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+ 10 × 0.912 × 0.088</a:t>
            </a:r>
            <a:r>
              <a:rPr lang="en-US" sz="2000" b="1" baseline="30000">
                <a:solidFill>
                  <a:srgbClr val="C00000"/>
                </a:solidFill>
                <a:latin typeface="Calibri" panose="020F0502020204030204" pitchFamily="34" charset="0"/>
              </a:rPr>
              <a:t>9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]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      ≈ 1 − 0.000000003 ≈ 1:  he is all but certain to make 2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μ = np = 10 × 0.912 ≈ 9.1</a:t>
            </a:r>
          </a:p>
        </p:txBody>
      </p:sp>
    </p:spTree>
    <p:extLst>
      <p:ext uri="{BB962C8B-B14F-4D97-AF65-F5344CB8AC3E}">
        <p14:creationId xmlns:p14="http://schemas.microsoft.com/office/powerpoint/2010/main" val="3299294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a lymphoma cluster?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A doctor in a rural California county finds that 71 of his 893 patients (about 8%) were diagnosed with lymphoma last year.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551331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US rate ≈ 21 per 100,000 people a year:   p = 0.00021;     X = cases among 893 patients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976841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At the national rate, how many cases should he expect, μ?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Write P(X ≥ 71) with the complement rule.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Software gives P(X ≥ 71). Should he contact the CDC?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4103867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μ = 893 × 0.00021 ≈ 0.19 cases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P(X ≥ 71) = 1 − P(X ≤ 70) = 1 − [P(0) + P(1) + … + P(70)]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≈ 1 × 10</a:t>
            </a:r>
            <a:r>
              <a:rPr lang="en-US" sz="2000" b="1" baseline="30000">
                <a:solidFill>
                  <a:srgbClr val="C00000"/>
                </a:solidFill>
                <a:latin typeface="Calibri" panose="020F0502020204030204" pitchFamily="34" charset="0"/>
              </a:rPr>
              <a:t>−155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:  essentially impossible at the national rate, so yes</a:t>
            </a:r>
          </a:p>
        </p:txBody>
      </p:sp>
    </p:spTree>
    <p:extLst>
      <p:ext uri="{BB962C8B-B14F-4D97-AF65-F5344CB8AC3E}">
        <p14:creationId xmlns:p14="http://schemas.microsoft.com/office/powerpoint/2010/main" val="831064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Is it binomial?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5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For each X, check the three conditions:  fixed n,  the same p,  independent trials.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28600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X = the number of heads in 20 flips of a coin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X = the number of aces in a 5-card hand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X = the number of rolls of a die until the first six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413026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Yes:  n = 20,  p = 0.5,  and the flips are independent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No:  the cards are dealt without replacement, so the draws are not independent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No:  the number of trials n is not fixed</a:t>
            </a:r>
          </a:p>
        </p:txBody>
      </p:sp>
    </p:spTree>
    <p:extLst>
      <p:ext uri="{BB962C8B-B14F-4D97-AF65-F5344CB8AC3E}">
        <p14:creationId xmlns:p14="http://schemas.microsoft.com/office/powerpoint/2010/main" val="4166570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Poisson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6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X ~ Poisson(</a:t>
            </a:r>
            <a:r>
              <a:rPr lang="el-GR" sz="1600">
                <a:solidFill>
                  <a:srgbClr val="000000"/>
                </a:solidFill>
              </a:rPr>
              <a:t>λ)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X = the number of events in a fixed interval of time or space, when events occur independently at an average rate 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P(X = k)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l-GR" sz="1600" b="1">
                <a:solidFill>
                  <a:srgbClr val="C00000"/>
                </a:solidFill>
              </a:rPr>
              <a:t>λ</a:t>
            </a:r>
            <a:r>
              <a:rPr lang="en-US" sz="1600" b="1" baseline="30000">
                <a:solidFill>
                  <a:srgbClr val="C00000"/>
                </a:solidFill>
              </a:rPr>
              <a:t>k</a:t>
            </a:r>
            <a:r>
              <a:rPr lang="en-US" sz="1600" b="1">
                <a:solidFill>
                  <a:srgbClr val="C00000"/>
                </a:solidFill>
              </a:rPr>
              <a:t> e</a:t>
            </a:r>
            <a:r>
              <a:rPr lang="en-US" sz="1600" b="1" baseline="30000">
                <a:solidFill>
                  <a:srgbClr val="C00000"/>
                </a:solidFill>
              </a:rPr>
              <a:t>−</a:t>
            </a:r>
            <a:r>
              <a:rPr lang="el-GR" sz="1600" b="1" baseline="30000">
                <a:solidFill>
                  <a:srgbClr val="C00000"/>
                </a:solidFill>
              </a:rPr>
              <a:t>λ</a:t>
            </a:r>
            <a:r>
              <a:rPr lang="el-GR" sz="1600" b="1">
                <a:solidFill>
                  <a:srgbClr val="C00000"/>
                </a:solidFill>
              </a:rPr>
              <a:t> / </a:t>
            </a:r>
            <a:r>
              <a:rPr lang="en-US" sz="1600" b="1">
                <a:solidFill>
                  <a:srgbClr val="C00000"/>
                </a:solidFill>
              </a:rPr>
              <a:t>k!,     k = 0, 1, 2, …     (e ≈ 2.718)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mean and variance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l-GR" sz="1600" b="1">
                <a:solidFill>
                  <a:srgbClr val="C00000"/>
                </a:solidFill>
              </a:rPr>
              <a:t>μ = λ     and     σ² = λ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5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World Cup goals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7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The 2022 FIFA World Cup had 172 goals in 64 matches.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λ = 172 / 64 ≈ 2.69 goals per match;     X = goals in one match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P(X = 0)?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How many of the 64 matches does the model expect to end 0–0?  (There were 7.)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What is λ for one 45-minute half, and P(no goals in a half)?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e</a:t>
            </a:r>
            <a:r>
              <a:rPr lang="en-US" sz="2000" b="1" baseline="30000">
                <a:solidFill>
                  <a:srgbClr val="C00000"/>
                </a:solidFill>
                <a:latin typeface="Calibri" panose="020F0502020204030204" pitchFamily="34" charset="0"/>
              </a:rPr>
              <a:t>−2.69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≈ 0.068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64 × 0.068 ≈ 4.4:  close, but a model is never a perfect fit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λ = 2.69 / 2 ≈ 1.34,     P(X = 0) = e</a:t>
            </a:r>
            <a:r>
              <a:rPr lang="en-US" sz="2000" b="1" baseline="30000">
                <a:solidFill>
                  <a:srgbClr val="C00000"/>
                </a:solidFill>
                <a:latin typeface="Calibri" panose="020F0502020204030204" pitchFamily="34" charset="0"/>
              </a:rPr>
              <a:t>−1.34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≈ 0.26</a:t>
            </a:r>
          </a:p>
        </p:txBody>
      </p:sp>
    </p:spTree>
    <p:extLst>
      <p:ext uri="{BB962C8B-B14F-4D97-AF65-F5344CB8AC3E}">
        <p14:creationId xmlns:p14="http://schemas.microsoft.com/office/powerpoint/2010/main" val="195428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Goals per match: the Poisson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8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X ~ Poisson(λ = 2.69): the probability of each number of goals in a match.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286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Which number of goals is most likely? Is the distribution symmetric?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5639832"/>
            <a:ext cx="10668000" cy="470595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Two goals (0.25), then three (0.22);  skewed right:  X cannot go below 0 but has no upper limit</a:t>
            </a:r>
          </a:p>
        </p:txBody>
      </p:sp>
      <p:pic>
        <p:nvPicPr>
          <p:cNvPr id="6" name="l15_poisson_goals.png">
            <a:extLst>
              <a:ext uri="{FF2B5EF4-FFF2-40B4-BE49-F238E27FC236}">
                <a16:creationId xmlns:a16="http://schemas.microsoft.com/office/drawing/2014/main" id="{AC90B376-2A68-DB13-3770-4696990C57A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2706132"/>
            <a:ext cx="8128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50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normal as a continuous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9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X ~ N(</a:t>
            </a:r>
            <a:r>
              <a:rPr lang="el-GR" sz="1600">
                <a:solidFill>
                  <a:srgbClr val="000000"/>
                </a:solidFill>
              </a:rPr>
              <a:t>μ, σ)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continuous random variable: it can take any value, and its density curve is the bell curve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probability is area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P(a &lt; X &lt; b) is the area under the curve between a and b;  the height is not a probability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P(X = c) = 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single value has no width, so P(X &lt; c) = P(X ≤ c)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227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Cumulative probability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10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P(X ≤ x)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area to the left of x:  what the z-table and pnorm give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area to the right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P(X &gt; x) = 1 − P(X ≤ x)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area between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P(a &lt; X &lt; b) = P(X ≤ b) − P(X ≤ a)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79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area between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11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X = the height of a woman in the student heights data, modeled as normal.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 ~ N(65.4, 3.38);     Week 6:  P(X &lt; 70) = 0.9131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P(X &gt; 70)?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P(X &lt; 62)?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What is P(62 &lt; X &lt; 70)?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1 − 0.9131 = 0.0869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z = (62 − 65.4) / 3.38 = −1.01:   table gives 0.1562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0.9131 − 0.1562 = 0.7569 ≈ 0.76</a:t>
            </a:r>
          </a:p>
        </p:txBody>
      </p:sp>
    </p:spTree>
    <p:extLst>
      <p:ext uri="{BB962C8B-B14F-4D97-AF65-F5344CB8AC3E}">
        <p14:creationId xmlns:p14="http://schemas.microsoft.com/office/powerpoint/2010/main" val="1449616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What you should know: distributions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12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expected 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μ = Σ x P(x):  the long-run average of 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binomial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successes in n independent trials with the same p:   μ = np,   σ² = np(1 − p);   Bernoulli is n 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Poisson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events in a fixed interval at an average rate λ:   μ = σ² = λ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52B31-0A80-8297-9AB5-9AED735ACDE2}"/>
              </a:ext>
            </a:extLst>
          </p:cNvPr>
          <p:cNvSpPr txBox="1"/>
          <p:nvPr/>
        </p:nvSpPr>
        <p:spPr>
          <a:xfrm>
            <a:off x="762000" y="4464982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normal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980B2D-2D53-A814-88AF-46C2FDF3E298}"/>
              </a:ext>
            </a:extLst>
          </p:cNvPr>
          <p:cNvSpPr txBox="1"/>
          <p:nvPr/>
        </p:nvSpPr>
        <p:spPr>
          <a:xfrm>
            <a:off x="1117600" y="4810422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X ~ N(μ, σ):  probability is area under the bell curve;   P(X = c) = 0;   P(a &lt; X &lt; b) = P(X ≤ b) − P(X ≤ a)</a:t>
            </a:r>
          </a:p>
        </p:txBody>
      </p:sp>
    </p:spTree>
    <p:extLst>
      <p:ext uri="{BB962C8B-B14F-4D97-AF65-F5344CB8AC3E}">
        <p14:creationId xmlns:p14="http://schemas.microsoft.com/office/powerpoint/2010/main" val="3324539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4115</TotalTime>
  <Words>1220</Words>
  <Application>Microsoft Office PowerPoint</Application>
  <PresentationFormat>Widescreen</PresentationFormat>
  <Paragraphs>100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Lecture 17 Binomial, Poisson and Normal Distributions</vt:lpstr>
      <vt:lpstr>Review</vt:lpstr>
      <vt:lpstr>Example: free throws</vt:lpstr>
      <vt:lpstr>Example: a lymphoma cluster?</vt:lpstr>
      <vt:lpstr>Is it binomial?</vt:lpstr>
      <vt:lpstr>The Poisson distribution</vt:lpstr>
      <vt:lpstr>Example: World Cup goals</vt:lpstr>
      <vt:lpstr>Goals per match: the Poisson model</vt:lpstr>
      <vt:lpstr>The normal as a continuous distribution</vt:lpstr>
      <vt:lpstr>Cumulative probability</vt:lpstr>
      <vt:lpstr>Example: area between</vt:lpstr>
      <vt:lpstr>What you should know: distributions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Jarred Kvamme</dc:creator>
  <cp:lastModifiedBy>Jarred Kvamme</cp:lastModifiedBy>
  <cp:revision>417</cp:revision>
  <dcterms:created xsi:type="dcterms:W3CDTF">2023-08-05T23:57:41Z</dcterms:created>
  <dcterms:modified xsi:type="dcterms:W3CDTF">2026-10-07T21:04:27Z</dcterms:modified>
</cp:coreProperties>
</file>