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257" r:id="rId3"/>
    <p:sldId id="411" r:id="rId4"/>
    <p:sldId id="412" r:id="rId5"/>
    <p:sldId id="413" r:id="rId6"/>
    <p:sldId id="414" r:id="rId7"/>
    <p:sldId id="415" r:id="rId8"/>
    <p:sldId id="360" r:id="rId9"/>
    <p:sldId id="416" r:id="rId10"/>
    <p:sldId id="426" r:id="rId11"/>
    <p:sldId id="417" r:id="rId12"/>
    <p:sldId id="418" r:id="rId13"/>
    <p:sldId id="419" r:id="rId14"/>
    <p:sldId id="420" r:id="rId15"/>
    <p:sldId id="421" r:id="rId16"/>
    <p:sldId id="422" r:id="rId17"/>
    <p:sldId id="423" r:id="rId18"/>
    <p:sldId id="424" r:id="rId19"/>
    <p:sldId id="42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18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Sampling Distributions, the Central Limit Theorem and Confidence Intervals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7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   </a:t>
            </a:r>
            <a:r>
              <a:rPr lang="en-US" b="1"/>
              <a:t>What is a Poisson random variable?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number of events in a fixed interval, when events occur independently at an average rate λ.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   </a:t>
            </a:r>
            <a:r>
              <a:rPr lang="en-US" b="1"/>
              <a:t>What is a probability density?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How concentrated probability is around a point; probability is the area under the curve.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   </a:t>
            </a:r>
            <a:r>
              <a:rPr lang="en-US" b="1"/>
              <a:t>For a continuous random variable, what is P(X = c)?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0: a single value has no width, so it has no area under the curve.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Question 4"/>
          <p:cNvSpPr/>
          <p:nvPr/>
        </p:nvSpPr>
        <p:spPr>
          <a:xfrm>
            <a:off x="838200" y="500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4   </a:t>
            </a:r>
            <a:r>
              <a:rPr lang="en-US" b="1"/>
              <a:t>What is a cumulative probability?</a:t>
            </a:r>
            <a:endParaRPr lang="en-US" b="1" dirty="0"/>
          </a:p>
        </p:txBody>
      </p:sp>
      <p:sp>
        <p:nvSpPr>
          <p:cNvPr id="10" name="Answer 4"/>
          <p:cNvSpPr txBox="1"/>
          <p:nvPr/>
        </p:nvSpPr>
        <p:spPr>
          <a:xfrm>
            <a:off x="1066800" y="558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P(X ≤ x): the area to the left of x, what the z-table and pnorm give.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0480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Two polls, two answers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Two polling firms each survey a random sample of 1,000 voters in the same state, in the same week.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Poll A:  p̂ = 0.52          Poll B:  p̂ = 0.49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Is one of the polls wrong?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If 1,000 firms each polled 1,000 voters, what would their 1,000 values of p̂ look like?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Not necessarily:  different random samples give different values of p̂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A pile of values centered near p:  the sampling distribution of p̂</a:t>
            </a:r>
          </a:p>
        </p:txBody>
      </p:sp>
    </p:spTree>
    <p:extLst>
      <p:ext uri="{BB962C8B-B14F-4D97-AF65-F5344CB8AC3E}">
        <p14:creationId xmlns:p14="http://schemas.microsoft.com/office/powerpoint/2010/main" val="131457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Three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population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how a single observation X varies; described by parameters such as μ, σ and 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data distribution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n values in our one sample; described by statistics such as x̄, s and p̂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sampling distribution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how a statistic such as x̄ varies over all possible samples of the same size n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5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Building a sampling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spinner lands on 1, 2 or 3, each with probability 1/3. Spin it twice and record the mean, x̄.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μ = 2;     n = 2 spins;     3 × 3 = 9 equally likely samples (order matters)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List the 9 samples and the mean of each.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P(x̄) for each possible value of x̄?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(1,1) → 1;  (1,2), (2,1) → 1.5;  (1,3), (2,2), (3,1) → 2;  (2,3), (3,2) → 2.5;  (3,3) → 3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x̄ = 1, 1.5, 2, 2.5, 3   with   P(x̄) = 1/9, 2/9, 3/9, 2/9, 1/9</a:t>
            </a:r>
          </a:p>
        </p:txBody>
      </p:sp>
    </p:spTree>
    <p:extLst>
      <p:ext uri="{BB962C8B-B14F-4D97-AF65-F5344CB8AC3E}">
        <p14:creationId xmlns:p14="http://schemas.microsoft.com/office/powerpoint/2010/main" val="210841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One spin vs. the mean of two spins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The population (left) and the sampling distribution of x̄ for n = 2 (right).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What stayed the same? What changed?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487432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Same center:  both have mean 2.     Smaller spread:  σ = 0.82,  σ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x̄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0.58 = 0.82 / √2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New shape:  peaked in the middle</a:t>
            </a:r>
          </a:p>
        </p:txBody>
      </p:sp>
      <p:pic>
        <p:nvPicPr>
          <p:cNvPr id="7" name="l18_spinner.png">
            <a:extLst>
              <a:ext uri="{FF2B5EF4-FFF2-40B4-BE49-F238E27FC236}">
                <a16:creationId xmlns:a16="http://schemas.microsoft.com/office/drawing/2014/main" id="{47273355-65DB-F290-FEB1-0DA0C232D3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2706132"/>
            <a:ext cx="81280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24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Center and spread of x̄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mean of x̄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μ</a:t>
            </a:r>
            <a:r>
              <a:rPr lang="en-US" sz="1600" b="1" baseline="-25000">
                <a:solidFill>
                  <a:srgbClr val="C00000"/>
                </a:solidFill>
              </a:rPr>
              <a:t>x̄</a:t>
            </a:r>
            <a:r>
              <a:rPr lang="en-US" sz="1600" b="1">
                <a:solidFill>
                  <a:srgbClr val="C00000"/>
                </a:solidFill>
              </a:rPr>
              <a:t> = μ:  x̄ is centered at the parameter it estimates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standard error of x̄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σ</a:t>
            </a:r>
            <a:r>
              <a:rPr lang="en-US" sz="1600" b="1" baseline="-25000">
                <a:solidFill>
                  <a:srgbClr val="C00000"/>
                </a:solidFill>
              </a:rPr>
              <a:t>x̄</a:t>
            </a:r>
            <a:r>
              <a:rPr lang="en-US" sz="1600" b="1">
                <a:solidFill>
                  <a:srgbClr val="C00000"/>
                </a:solidFill>
              </a:rPr>
              <a:t> = σ / √n:  the spread of x̄, which shrinks as n grows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the sample proportion p̂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mean p   and   standard error  σ</a:t>
            </a:r>
            <a:r>
              <a:rPr lang="en-US" sz="1600" b="1" baseline="-25000">
                <a:solidFill>
                  <a:srgbClr val="C00000"/>
                </a:solidFill>
              </a:rPr>
              <a:t>p̂</a:t>
            </a:r>
            <a:r>
              <a:rPr lang="en-US" sz="1600" b="1">
                <a:solidFill>
                  <a:srgbClr val="C00000"/>
                </a:solidFill>
              </a:rPr>
              <a:t> = √(p(1 − p) / n)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9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Spotify songs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Spotify and YouTube statistics for the top 10 songs of each of 2,079 popular artists, collected in February 2023.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3114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the length of a song, in minutes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0991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18,860 different songs   (a song credited to several artists is counted once)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579049"/>
              </p:ext>
            </p:extLst>
          </p:nvPr>
        </p:nvGraphicFramePr>
        <p:xfrm>
          <a:off x="762000" y="2838510"/>
          <a:ext cx="3810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61917886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TRACK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ARTIST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MINUTES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Feel Good Inc.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Gorillaz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3.71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Rhinestone Eyes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Gorillaz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3.34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New Gold (feat. Tame Impala and Bootie Brown)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Gorillaz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3.59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On Melancholy Hill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Gorillaz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3.90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Clint Eastwood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Gorillaz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5.68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49720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009998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3205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standard error and 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Treat the 18,860 songs as the population. Draw a random sample of n songs and average their lengths to get x̄. Every new sample gives a different x̄; the standard error σ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x̄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 measures how much x̄ varies from sample to sample.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767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l-GR" sz="2000" b="1">
                <a:solidFill>
                  <a:srgbClr val="000000"/>
                </a:solidFill>
                <a:latin typeface="Calibri" panose="020F0502020204030204" pitchFamily="34" charset="0"/>
              </a:rPr>
              <a:t>μ = 3.71 </a:t>
            </a: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min;     </a:t>
            </a:r>
            <a:r>
              <a:rPr lang="el-GR" sz="2000" b="1">
                <a:solidFill>
                  <a:srgbClr val="000000"/>
                </a:solidFill>
                <a:latin typeface="Calibri" panose="020F0502020204030204" pitchFamily="34" charset="0"/>
              </a:rPr>
              <a:t>σ = 1.51 </a:t>
            </a: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min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3002241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σ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x̄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for n = 20?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σ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x̄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for n = 80?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How much larger must a sample be to cut the standard error in half?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116567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1.51 / √20 ≈ 0.34 min          (b)  1.51 / √80 ≈ 0.17 min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4 times larger, because √4 = 2</a:t>
            </a:r>
          </a:p>
        </p:txBody>
      </p:sp>
    </p:spTree>
    <p:extLst>
      <p:ext uri="{BB962C8B-B14F-4D97-AF65-F5344CB8AC3E}">
        <p14:creationId xmlns:p14="http://schemas.microsoft.com/office/powerpoint/2010/main" val="9866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Data: waiting for a goal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The 2022 World Cup had 172 goals in 64 matches: 2.69 goals per 90-minute match.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3114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minutes until the next goal, simulated at 2.69 goals per 90 minutes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509911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μ = 90 / 2.69 ≈ 33.5 min;   σ ≈ 33.5 min.   Most waits are short and a few are very long.</a:t>
            </a:r>
          </a:p>
        </p:txBody>
      </p:sp>
      <p:graphicFrame>
        <p:nvGraphicFramePr>
          <p:cNvPr id="5" name="Data table">
            <a:extLst>
              <a:ext uri="{FF2B5EF4-FFF2-40B4-BE49-F238E27FC236}">
                <a16:creationId xmlns:a16="http://schemas.microsoft.com/office/drawing/2014/main" id="{107D57CA-D659-5E39-E6B7-B1821FDE1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483959"/>
              </p:ext>
            </p:extLst>
          </p:nvPr>
        </p:nvGraphicFramePr>
        <p:xfrm>
          <a:off x="762000" y="2838510"/>
          <a:ext cx="3810000" cy="2133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3025540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43124622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WAIT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MINUTES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7359791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884834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54.3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2146922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57.3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2893545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27.2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5258757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18.3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34497208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…</a:t>
                      </a:r>
                    </a:p>
                  </a:txBody>
                  <a:tcPr marT="25400" marB="25400"/>
                </a:tc>
                <a:extLst>
                  <a:ext uri="{0D108BD9-81ED-4DB2-BD59-A6C34878D82A}">
                    <a16:rowId xmlns:a16="http://schemas.microsoft.com/office/drawing/2014/main" val="1009998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9998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Averaging a skewed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Each panel: draw n waits, average them to get x̄, and repeat 10,000 times (n = 1 is a single wait).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As n grows, what happens to the shape, the center and the spread of x̄?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4874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Shape: the skew fades into a bell.   Center: stays at 33.5.   Spread: shrinks like σ / √n</a:t>
            </a:r>
          </a:p>
        </p:txBody>
      </p:sp>
      <p:pic>
        <p:nvPicPr>
          <p:cNvPr id="7" name="l18_clt_goals.png">
            <a:extLst>
              <a:ext uri="{FF2B5EF4-FFF2-40B4-BE49-F238E27FC236}">
                <a16:creationId xmlns:a16="http://schemas.microsoft.com/office/drawing/2014/main" id="{3E5C2E90-12D8-2822-9FB1-C2183DE9657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706132"/>
            <a:ext cx="106680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9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central limit theorem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central limit theorem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for large n, x̄ is approximately N(μ, σ / √n), whatever the shape of the population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how large is large enough?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 ≥ 30 for x̄;     np &gt; 5 and n(1 − p) &gt; 5 for p̂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why it matters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empirical rule applies:  about 95% of samples give a statistic within 2 SE of its mean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1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CLT for a proportion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Exact sampling distributions of p̂, the proportion of free throws Stephen Curry makes;  p = 0.912.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For which n is n(1 − p) &gt; 5? Which distributions look like a bell?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4874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n(1 − p) = 0.88,  2.64,  8.8:  only n = 100 passes, and only n = 100 is close to a bell</a:t>
            </a:r>
          </a:p>
        </p:txBody>
      </p:sp>
      <p:pic>
        <p:nvPicPr>
          <p:cNvPr id="7" name="l18_phat_curry.png">
            <a:extLst>
              <a:ext uri="{FF2B5EF4-FFF2-40B4-BE49-F238E27FC236}">
                <a16:creationId xmlns:a16="http://schemas.microsoft.com/office/drawing/2014/main" id="{E1C1137D-42A1-4D9F-45D0-027AB419DB3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706132"/>
            <a:ext cx="106680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free throws, again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14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Over a stretch of n = 100 free throws, let p̂ be the proportion Curry makes.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p = 0.912;     n = 100;     n(1 − p) = 8.8 &gt; 5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are the mean and standard error of p̂?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About 95% of the time, p̂ falls between what two values?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mean 0.912;    SE = √(0.912 × 0.088 / 100) ≈ 0.028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0.912 ± 2(0.028):   0.856 to 0.968</a:t>
            </a:r>
          </a:p>
        </p:txBody>
      </p:sp>
    </p:spTree>
    <p:extLst>
      <p:ext uri="{BB962C8B-B14F-4D97-AF65-F5344CB8AC3E}">
        <p14:creationId xmlns:p14="http://schemas.microsoft.com/office/powerpoint/2010/main" val="125527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a tournament’s average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Goals per World Cup match:  X ~ Poisson(λ = 2.69). A tournament averages over 64 matches.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l-GR" sz="2000" b="1">
                <a:solidFill>
                  <a:srgbClr val="000000"/>
                </a:solidFill>
                <a:latin typeface="Calibri" panose="020F0502020204030204" pitchFamily="34" charset="0"/>
              </a:rPr>
              <a:t>μ = λ = 2.69;     σ = √2.69 ≈ 1.64;     n = 64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the standard error of a tournament’s average?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About 95% of tournaments average between what two values?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The 2018 World Cup averaged 169 / 64 = 2.64 goals per match. Surprising?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1.64 / √64 ≈ 0.205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2.69 ± 2(0.205):   2.28 to 3.10 goals per match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No:  2.64 is well inside 2.28 to 3.10</a:t>
            </a:r>
          </a:p>
        </p:txBody>
      </p:sp>
    </p:spTree>
    <p:extLst>
      <p:ext uri="{BB962C8B-B14F-4D97-AF65-F5344CB8AC3E}">
        <p14:creationId xmlns:p14="http://schemas.microsoft.com/office/powerpoint/2010/main" val="307955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From an estimate to an interval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16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point estimate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single statistic used to estimate a parameter:  x̄ for μ,  p̂ for 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confidence interval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range of plausible values for the parameter:  estimate ± margin of error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95% confidence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method captures the parameter in about 95% of all possible samples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7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How often does an interval capture μ?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17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25 random samples of n = 20 songs;  each line is x̄ ± 2(0.34), the margin of error.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How many of the 25 intervals capture μ = 3.71?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4874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24 of 25:  about 95% of intervals made this way capture μ</a:t>
            </a:r>
          </a:p>
        </p:txBody>
      </p:sp>
      <p:pic>
        <p:nvPicPr>
          <p:cNvPr id="6" name="l18_ci_cover.png">
            <a:extLst>
              <a:ext uri="{FF2B5EF4-FFF2-40B4-BE49-F238E27FC236}">
                <a16:creationId xmlns:a16="http://schemas.microsoft.com/office/drawing/2014/main" id="{B7ADDB0A-1FE2-1E34-7D02-8FC4D818928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2706132"/>
            <a:ext cx="81280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9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an interval for mean song length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In practice we see only one sample:  n = 20 songs (the bottom interval on the last slide).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it-IT" sz="2000" b="1">
                <a:solidFill>
                  <a:srgbClr val="000000"/>
                </a:solidFill>
                <a:latin typeface="Calibri" panose="020F0502020204030204" pitchFamily="34" charset="0"/>
              </a:rPr>
              <a:t>x̄ = 3.64 min;     σ = 1.51 min;     SE = 0.34 min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the 95% confidence interval for μ?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Does it capture μ = 3.71?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If we did not know μ, what would “95% confident” mean?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3.64 ± 2(0.34):   2.96 to 4.32 min          (b)  Yes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95% of intervals built this way capture μ;  this one either does or does not</a:t>
            </a:r>
          </a:p>
        </p:txBody>
      </p:sp>
    </p:spTree>
    <p:extLst>
      <p:ext uri="{BB962C8B-B14F-4D97-AF65-F5344CB8AC3E}">
        <p14:creationId xmlns:p14="http://schemas.microsoft.com/office/powerpoint/2010/main" val="113457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you should know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19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sampling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distribution of a statistic over all possible samples of size 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standard error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σ</a:t>
            </a:r>
            <a:r>
              <a:rPr lang="en-US" sz="1600" b="1" baseline="-25000">
                <a:solidFill>
                  <a:srgbClr val="C00000"/>
                </a:solidFill>
              </a:rPr>
              <a:t>x̄</a:t>
            </a:r>
            <a:r>
              <a:rPr lang="en-US" sz="1600" b="1">
                <a:solidFill>
                  <a:srgbClr val="C00000"/>
                </a:solidFill>
              </a:rPr>
              <a:t> = σ / √n   and   σ</a:t>
            </a:r>
            <a:r>
              <a:rPr lang="en-US" sz="1600" b="1" baseline="-25000">
                <a:solidFill>
                  <a:srgbClr val="C00000"/>
                </a:solidFill>
              </a:rPr>
              <a:t>p̂</a:t>
            </a:r>
            <a:r>
              <a:rPr lang="en-US" sz="1600" b="1">
                <a:solidFill>
                  <a:srgbClr val="C00000"/>
                </a:solidFill>
              </a:rPr>
              <a:t> = √(p(1 − p) / n):   both shrink as n grows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central limit theorem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for large n, x̄ and p̂ are approximately normal, whatever the population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confidence interval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estimate ± 2 SE:  captures the parameter for about 95% of samples</a:t>
            </a:r>
          </a:p>
        </p:txBody>
      </p:sp>
    </p:spTree>
    <p:extLst>
      <p:ext uri="{BB962C8B-B14F-4D97-AF65-F5344CB8AC3E}">
        <p14:creationId xmlns:p14="http://schemas.microsoft.com/office/powerpoint/2010/main" val="178046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4124</TotalTime>
  <Words>1675</Words>
  <Application>Microsoft Office PowerPoint</Application>
  <PresentationFormat>Widescreen</PresentationFormat>
  <Paragraphs>171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Lecture 18 Sampling Distributions, the Central Limit Theorem and Confidence Intervals</vt:lpstr>
      <vt:lpstr>Review</vt:lpstr>
      <vt:lpstr>Two polls, two answers</vt:lpstr>
      <vt:lpstr>Three distributions</vt:lpstr>
      <vt:lpstr>Building a sampling distribution</vt:lpstr>
      <vt:lpstr>One spin vs. the mean of two spins</vt:lpstr>
      <vt:lpstr>Center and spread of x̄</vt:lpstr>
      <vt:lpstr>Data: Spotify songs</vt:lpstr>
      <vt:lpstr>Example: standard error and n</vt:lpstr>
      <vt:lpstr>Data: waiting for a goal</vt:lpstr>
      <vt:lpstr>Averaging a skewed variable</vt:lpstr>
      <vt:lpstr>The central limit theorem</vt:lpstr>
      <vt:lpstr>The CLT for a proportion</vt:lpstr>
      <vt:lpstr>Example: free throws, again</vt:lpstr>
      <vt:lpstr>Example: a tournament’s average</vt:lpstr>
      <vt:lpstr>From an estimate to an interval</vt:lpstr>
      <vt:lpstr>How often does an interval capture μ?</vt:lpstr>
      <vt:lpstr>Example: an interval for mean song length</vt:lpstr>
      <vt:lpstr>What you should know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428</cp:revision>
  <dcterms:created xsi:type="dcterms:W3CDTF">2023-08-05T23:57:41Z</dcterms:created>
  <dcterms:modified xsi:type="dcterms:W3CDTF">2026-10-12T18:18:08Z</dcterms:modified>
</cp:coreProperties>
</file>